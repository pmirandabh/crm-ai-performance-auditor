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embeddedFontLst>
    <p:embeddedFont>
      <p:font typeface="Liter" panose="02000503030000020004" pitchFamily="34" charset="0"/>
      <p:regular r:id="rId15"/>
    </p:embeddedFont>
    <p:embeddedFont>
      <p:font typeface="Liter" panose="02000503030000020004" pitchFamily="34" charset="-122"/>
      <p:regular r:id="rId16"/>
    </p:embeddedFont>
    <p:embeddedFont>
      <p:font typeface="Liter" panose="02000503030000020004" pitchFamily="34" charset="-120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9699e6e43913292ab6cbc2b94d3155622b5f122.jpg"/>
          <p:cNvPicPr>
            <a:picLocks noChangeAspect="1"/>
          </p:cNvPicPr>
          <p:nvPr/>
        </p:nvPicPr>
        <p:blipFill>
          <a:blip r:embed="rId1">
            <a:alphaModFix amt="40000"/>
          </a:blip>
          <a:srcRect l="160" r="16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</p:spPr>
        <p:txBody>
          <a:bodyPr/>
          <a:p>
            <a:endParaRPr lang="pt-BR" altLang="en-US"/>
          </a:p>
        </p:txBody>
      </p:sp>
      <p:sp>
        <p:nvSpPr>
          <p:cNvPr id="4" name="Shape 1"/>
          <p:cNvSpPr/>
          <p:nvPr/>
        </p:nvSpPr>
        <p:spPr>
          <a:xfrm>
            <a:off x="384810" y="384810"/>
            <a:ext cx="1807845" cy="426720"/>
          </a:xfrm>
          <a:prstGeom prst="roundRect">
            <a:avLst>
              <a:gd name="adj" fmla="val 50000"/>
            </a:avLst>
          </a:prstGeom>
          <a:solidFill>
            <a:srgbClr val="6366F1">
              <a:alpha val="14902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1501" y="51244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6" name="Text 3"/>
          <p:cNvSpPr/>
          <p:nvPr/>
        </p:nvSpPr>
        <p:spPr>
          <a:xfrm>
            <a:off x="907733" y="483870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0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SISTEMA DE 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545842" y="3810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kern="0" spc="10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APRESENTAÇÃO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55367" y="609600"/>
            <a:ext cx="12573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069068"/>
            <a:ext cx="8877300" cy="1504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Agente de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Auditoria de Vendas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3882628"/>
            <a:ext cx="914400" cy="38100"/>
          </a:xfrm>
          <a:prstGeom prst="roundRect">
            <a:avLst>
              <a:gd name="adj" fmla="val 0"/>
            </a:avLst>
          </a:prstGeom>
          <a:solidFill>
            <a:srgbClr val="6366F1"/>
          </a:solidFill>
        </p:spPr>
      </p:sp>
      <p:sp>
        <p:nvSpPr>
          <p:cNvPr id="11" name="Shape 8"/>
          <p:cNvSpPr/>
          <p:nvPr/>
        </p:nvSpPr>
        <p:spPr>
          <a:xfrm>
            <a:off x="1447800" y="3882628"/>
            <a:ext cx="457200" cy="38100"/>
          </a:xfrm>
          <a:prstGeom prst="roundRect">
            <a:avLst>
              <a:gd name="adj" fmla="val 0"/>
            </a:avLst>
          </a:prstGeom>
          <a:solidFill>
            <a:srgbClr val="6366F1">
              <a:alpha val="5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381000" y="4225528"/>
            <a:ext cx="86772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Inteligência e Governança de Dados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4810" y="5947410"/>
            <a:ext cx="521970" cy="521970"/>
          </a:xfrm>
          <a:prstGeom prst="roundRect">
            <a:avLst>
              <a:gd name="adj" fmla="val 29197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3400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5" name="Text 12"/>
          <p:cNvSpPr/>
          <p:nvPr/>
        </p:nvSpPr>
        <p:spPr>
          <a:xfrm>
            <a:off x="1143000" y="5943600"/>
            <a:ext cx="2514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Auditoria 24/7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6248400"/>
            <a:ext cx="2495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Monitoramento contínuo do pipeline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298662" y="5947410"/>
            <a:ext cx="521970" cy="521970"/>
          </a:xfrm>
          <a:prstGeom prst="roundRect">
            <a:avLst>
              <a:gd name="adj" fmla="val 29197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447252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9" name="Text 16"/>
          <p:cNvSpPr/>
          <p:nvPr/>
        </p:nvSpPr>
        <p:spPr>
          <a:xfrm>
            <a:off x="10056852" y="5943600"/>
            <a:ext cx="1847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IA Avançada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6852" y="62484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Análise preditiva de dados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" name="Text 1"/>
          <p:cNvSpPr/>
          <p:nvPr/>
        </p:nvSpPr>
        <p:spPr>
          <a:xfrm>
            <a:off x="609600" y="381000"/>
            <a:ext cx="3895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CONCEITO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40576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 que é o Sistema?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99210"/>
            <a:ext cx="5589270" cy="2484120"/>
          </a:xfrm>
          <a:prstGeom prst="roundRect">
            <a:avLst>
              <a:gd name="adj" fmla="val 613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7230" y="1709976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26" y="186809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9760" y="2902"/>
                </a:moveTo>
                <a:cubicBezTo>
                  <a:pt x="138075" y="-949"/>
                  <a:pt x="147675" y="-949"/>
                  <a:pt x="155990" y="2902"/>
                </a:cubicBezTo>
                <a:lnTo>
                  <a:pt x="277992" y="59271"/>
                </a:lnTo>
                <a:cubicBezTo>
                  <a:pt x="282736" y="61447"/>
                  <a:pt x="285750" y="66191"/>
                  <a:pt x="285750" y="71438"/>
                </a:cubicBezTo>
                <a:cubicBezTo>
                  <a:pt x="285750" y="76684"/>
                  <a:pt x="282736" y="81428"/>
                  <a:pt x="277992" y="83604"/>
                </a:cubicBezTo>
                <a:lnTo>
                  <a:pt x="155990" y="139973"/>
                </a:lnTo>
                <a:cubicBezTo>
                  <a:pt x="147675" y="143824"/>
                  <a:pt x="138075" y="143824"/>
                  <a:pt x="129760" y="139973"/>
                </a:cubicBezTo>
                <a:lnTo>
                  <a:pt x="7758" y="83604"/>
                </a:lnTo>
                <a:cubicBezTo>
                  <a:pt x="3014" y="81372"/>
                  <a:pt x="0" y="76628"/>
                  <a:pt x="0" y="71438"/>
                </a:cubicBezTo>
                <a:cubicBezTo>
                  <a:pt x="0" y="66247"/>
                  <a:pt x="3014" y="61447"/>
                  <a:pt x="7758" y="59271"/>
                </a:cubicBezTo>
                <a:lnTo>
                  <a:pt x="129760" y="2902"/>
                </a:lnTo>
                <a:close/>
                <a:moveTo>
                  <a:pt x="26845" y="121890"/>
                </a:moveTo>
                <a:lnTo>
                  <a:pt x="118542" y="164250"/>
                </a:lnTo>
                <a:cubicBezTo>
                  <a:pt x="134001" y="171394"/>
                  <a:pt x="151805" y="171394"/>
                  <a:pt x="167264" y="164250"/>
                </a:cubicBezTo>
                <a:lnTo>
                  <a:pt x="258961" y="121890"/>
                </a:lnTo>
                <a:lnTo>
                  <a:pt x="277992" y="130708"/>
                </a:lnTo>
                <a:cubicBezTo>
                  <a:pt x="282736" y="132885"/>
                  <a:pt x="285750" y="137629"/>
                  <a:pt x="285750" y="142875"/>
                </a:cubicBezTo>
                <a:cubicBezTo>
                  <a:pt x="285750" y="148121"/>
                  <a:pt x="282736" y="152865"/>
                  <a:pt x="277992" y="155042"/>
                </a:cubicBezTo>
                <a:lnTo>
                  <a:pt x="155990" y="211410"/>
                </a:lnTo>
                <a:cubicBezTo>
                  <a:pt x="147675" y="215261"/>
                  <a:pt x="138075" y="215261"/>
                  <a:pt x="129760" y="211410"/>
                </a:cubicBezTo>
                <a:lnTo>
                  <a:pt x="7758" y="155042"/>
                </a:lnTo>
                <a:cubicBezTo>
                  <a:pt x="3014" y="152809"/>
                  <a:pt x="0" y="148065"/>
                  <a:pt x="0" y="142875"/>
                </a:cubicBezTo>
                <a:cubicBezTo>
                  <a:pt x="0" y="137685"/>
                  <a:pt x="3014" y="132885"/>
                  <a:pt x="7758" y="130708"/>
                </a:cubicBezTo>
                <a:lnTo>
                  <a:pt x="26789" y="121890"/>
                </a:lnTo>
                <a:close/>
                <a:moveTo>
                  <a:pt x="7758" y="202146"/>
                </a:moveTo>
                <a:lnTo>
                  <a:pt x="26789" y="193328"/>
                </a:lnTo>
                <a:lnTo>
                  <a:pt x="118486" y="235688"/>
                </a:lnTo>
                <a:cubicBezTo>
                  <a:pt x="133945" y="242832"/>
                  <a:pt x="151749" y="242832"/>
                  <a:pt x="167208" y="235688"/>
                </a:cubicBezTo>
                <a:lnTo>
                  <a:pt x="258905" y="193328"/>
                </a:lnTo>
                <a:lnTo>
                  <a:pt x="277937" y="202146"/>
                </a:lnTo>
                <a:cubicBezTo>
                  <a:pt x="282680" y="204322"/>
                  <a:pt x="285694" y="209066"/>
                  <a:pt x="285694" y="214313"/>
                </a:cubicBezTo>
                <a:cubicBezTo>
                  <a:pt x="285694" y="219559"/>
                  <a:pt x="282680" y="224303"/>
                  <a:pt x="277937" y="226479"/>
                </a:cubicBezTo>
                <a:lnTo>
                  <a:pt x="155935" y="282848"/>
                </a:lnTo>
                <a:cubicBezTo>
                  <a:pt x="147619" y="286699"/>
                  <a:pt x="138019" y="286699"/>
                  <a:pt x="129704" y="282848"/>
                </a:cubicBezTo>
                <a:lnTo>
                  <a:pt x="7758" y="226479"/>
                </a:lnTo>
                <a:cubicBezTo>
                  <a:pt x="3014" y="224247"/>
                  <a:pt x="0" y="219503"/>
                  <a:pt x="0" y="214313"/>
                </a:cubicBezTo>
                <a:cubicBezTo>
                  <a:pt x="0" y="209122"/>
                  <a:pt x="3014" y="204322"/>
                  <a:pt x="7758" y="202146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8" name="Text 6"/>
          <p:cNvSpPr/>
          <p:nvPr/>
        </p:nvSpPr>
        <p:spPr>
          <a:xfrm>
            <a:off x="1455420" y="1858566"/>
            <a:ext cx="2457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Camada de Inteligência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3420" y="2544366"/>
            <a:ext cx="505777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Sistema construído sobre o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Ploomes CRM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adicionando uma camada avançada de análise e monitoramento inteligente aos dados comerciais.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810" y="3985260"/>
            <a:ext cx="5589270" cy="2484120"/>
          </a:xfrm>
          <a:prstGeom prst="roundRect">
            <a:avLst>
              <a:gd name="adj" fmla="val 613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230" y="4396026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26" y="455414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1455420" y="4544616"/>
            <a:ext cx="2076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Auditor Virtual 24/7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420" y="5230416"/>
            <a:ext cx="505777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Monitoramento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independente e contínuo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de 100% dos negócios em aberto no pipeline, sem interrupção ou necessidade de supervisão humana.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4110" y="1299210"/>
            <a:ext cx="5589270" cy="2484120"/>
          </a:xfrm>
          <a:prstGeom prst="roundRect">
            <a:avLst>
              <a:gd name="adj" fmla="val 613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6530" y="1849279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7026" y="20073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60220"/>
                </a:moveTo>
                <a:lnTo>
                  <a:pt x="134503" y="48611"/>
                </a:lnTo>
                <a:cubicBezTo>
                  <a:pt x="120551" y="29301"/>
                  <a:pt x="98171" y="17859"/>
                  <a:pt x="74284" y="17859"/>
                </a:cubicBezTo>
                <a:cubicBezTo>
                  <a:pt x="33263" y="17859"/>
                  <a:pt x="0" y="51122"/>
                  <a:pt x="0" y="92143"/>
                </a:cubicBezTo>
                <a:lnTo>
                  <a:pt x="0" y="93594"/>
                </a:lnTo>
                <a:cubicBezTo>
                  <a:pt x="0" y="106766"/>
                  <a:pt x="3460" y="120383"/>
                  <a:pt x="9265" y="133945"/>
                </a:cubicBezTo>
                <a:lnTo>
                  <a:pt x="68424" y="133945"/>
                </a:lnTo>
                <a:cubicBezTo>
                  <a:pt x="70210" y="133945"/>
                  <a:pt x="71828" y="132885"/>
                  <a:pt x="72554" y="131211"/>
                </a:cubicBezTo>
                <a:lnTo>
                  <a:pt x="90301" y="88627"/>
                </a:lnTo>
                <a:cubicBezTo>
                  <a:pt x="92366" y="83716"/>
                  <a:pt x="97166" y="80479"/>
                  <a:pt x="102468" y="80367"/>
                </a:cubicBezTo>
                <a:cubicBezTo>
                  <a:pt x="107770" y="80256"/>
                  <a:pt x="112681" y="83381"/>
                  <a:pt x="114858" y="88236"/>
                </a:cubicBezTo>
                <a:lnTo>
                  <a:pt x="143489" y="151805"/>
                </a:lnTo>
                <a:lnTo>
                  <a:pt x="166594" y="105594"/>
                </a:lnTo>
                <a:cubicBezTo>
                  <a:pt x="168883" y="101073"/>
                  <a:pt x="173515" y="98171"/>
                  <a:pt x="178594" y="98171"/>
                </a:cubicBezTo>
                <a:cubicBezTo>
                  <a:pt x="183673" y="98171"/>
                  <a:pt x="188305" y="101017"/>
                  <a:pt x="190593" y="105594"/>
                </a:cubicBezTo>
                <a:lnTo>
                  <a:pt x="203541" y="131434"/>
                </a:lnTo>
                <a:cubicBezTo>
                  <a:pt x="204322" y="132941"/>
                  <a:pt x="205829" y="133890"/>
                  <a:pt x="207559" y="133890"/>
                </a:cubicBezTo>
                <a:lnTo>
                  <a:pt x="276541" y="133890"/>
                </a:lnTo>
                <a:cubicBezTo>
                  <a:pt x="282401" y="120328"/>
                  <a:pt x="285806" y="106710"/>
                  <a:pt x="285806" y="93538"/>
                </a:cubicBezTo>
                <a:lnTo>
                  <a:pt x="285806" y="92087"/>
                </a:lnTo>
                <a:cubicBezTo>
                  <a:pt x="285750" y="51122"/>
                  <a:pt x="252487" y="17859"/>
                  <a:pt x="211466" y="17859"/>
                </a:cubicBezTo>
                <a:cubicBezTo>
                  <a:pt x="187635" y="17859"/>
                  <a:pt x="165199" y="29301"/>
                  <a:pt x="151247" y="48611"/>
                </a:cubicBezTo>
                <a:lnTo>
                  <a:pt x="142875" y="60164"/>
                </a:lnTo>
                <a:close/>
                <a:moveTo>
                  <a:pt x="262086" y="160734"/>
                </a:moveTo>
                <a:lnTo>
                  <a:pt x="207504" y="160734"/>
                </a:lnTo>
                <a:cubicBezTo>
                  <a:pt x="195672" y="160734"/>
                  <a:pt x="184845" y="154037"/>
                  <a:pt x="179543" y="143433"/>
                </a:cubicBezTo>
                <a:lnTo>
                  <a:pt x="178594" y="141536"/>
                </a:lnTo>
                <a:lnTo>
                  <a:pt x="154874" y="189030"/>
                </a:lnTo>
                <a:cubicBezTo>
                  <a:pt x="152586" y="193663"/>
                  <a:pt x="147786" y="196565"/>
                  <a:pt x="142596" y="196453"/>
                </a:cubicBezTo>
                <a:cubicBezTo>
                  <a:pt x="137406" y="196342"/>
                  <a:pt x="132773" y="193272"/>
                  <a:pt x="130652" y="188584"/>
                </a:cubicBezTo>
                <a:lnTo>
                  <a:pt x="103138" y="127471"/>
                </a:lnTo>
                <a:lnTo>
                  <a:pt x="97278" y="141536"/>
                </a:lnTo>
                <a:cubicBezTo>
                  <a:pt x="92422" y="153200"/>
                  <a:pt x="81037" y="160790"/>
                  <a:pt x="68424" y="160790"/>
                </a:cubicBezTo>
                <a:lnTo>
                  <a:pt x="23664" y="160790"/>
                </a:lnTo>
                <a:cubicBezTo>
                  <a:pt x="50006" y="201978"/>
                  <a:pt x="92311" y="239874"/>
                  <a:pt x="118765" y="260077"/>
                </a:cubicBezTo>
                <a:cubicBezTo>
                  <a:pt x="125685" y="265323"/>
                  <a:pt x="134169" y="267946"/>
                  <a:pt x="142819" y="267946"/>
                </a:cubicBezTo>
                <a:cubicBezTo>
                  <a:pt x="151470" y="267946"/>
                  <a:pt x="160009" y="265379"/>
                  <a:pt x="166874" y="260077"/>
                </a:cubicBezTo>
                <a:cubicBezTo>
                  <a:pt x="193439" y="239818"/>
                  <a:pt x="235744" y="201923"/>
                  <a:pt x="262086" y="16073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8" name="Text 16"/>
          <p:cNvSpPr/>
          <p:nvPr/>
        </p:nvSpPr>
        <p:spPr>
          <a:xfrm>
            <a:off x="7284720" y="1997869"/>
            <a:ext cx="1590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Saúde do Funil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2720" y="2683669"/>
            <a:ext cx="505777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Foco na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qualidade operacional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 saúde do pipeline, identificando gargalos e oportunidades de melhoria em tempo real.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4110" y="3985260"/>
            <a:ext cx="5589270" cy="2484120"/>
          </a:xfrm>
          <a:prstGeom prst="roundRect">
            <a:avLst>
              <a:gd name="adj" fmla="val 6135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3195" y="478631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22" name="Text 20"/>
          <p:cNvSpPr/>
          <p:nvPr/>
        </p:nvSpPr>
        <p:spPr>
          <a:xfrm>
            <a:off x="6853000" y="4748213"/>
            <a:ext cx="47434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"Ele não substitui o CRM, ele garante que os dados dentro dele sejam reais, atualizados e estratégicos."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3000" y="5481638"/>
            <a:ext cx="472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— Propósito do Sistema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" name="Text 1"/>
          <p:cNvSpPr/>
          <p:nvPr/>
        </p:nvSpPr>
        <p:spPr>
          <a:xfrm>
            <a:off x="609600" y="38100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49720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Benefícios Estratégicos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99210"/>
            <a:ext cx="5608320" cy="2484120"/>
          </a:xfrm>
          <a:prstGeom prst="roundRect">
            <a:avLst>
              <a:gd name="adj" fmla="val 6135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9130" y="1573530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30196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767" y="173164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8" name="Text 6"/>
          <p:cNvSpPr/>
          <p:nvPr/>
        </p:nvSpPr>
        <p:spPr>
          <a:xfrm>
            <a:off x="1417320" y="1722120"/>
            <a:ext cx="1847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Visibilidade Total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320" y="2369820"/>
            <a:ext cx="5153025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Identificação de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gargalos em segundos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não em dias. O gestor tem acesso imediato aonde a operação está falhando.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4370" y="33261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1" name="Text 9"/>
          <p:cNvSpPr/>
          <p:nvPr/>
        </p:nvSpPr>
        <p:spPr>
          <a:xfrm>
            <a:off x="922020" y="3288031"/>
            <a:ext cx="828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Tempo real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5060" y="1299210"/>
            <a:ext cx="5608320" cy="2484120"/>
          </a:xfrm>
          <a:prstGeom prst="roundRect">
            <a:avLst>
              <a:gd name="adj" fmla="val 613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9380" y="1573530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736" y="17316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5" name="Text 13"/>
          <p:cNvSpPr/>
          <p:nvPr/>
        </p:nvSpPr>
        <p:spPr>
          <a:xfrm>
            <a:off x="7227570" y="1722120"/>
            <a:ext cx="1571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Escalabilidade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5570" y="2369820"/>
            <a:ext cx="5153025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Auditoria de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todos os deals simultaneamente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algo impossível para um gestor humano. A IA não tem limite de volume.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65570" y="332613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8" name="Text 16"/>
          <p:cNvSpPr/>
          <p:nvPr/>
        </p:nvSpPr>
        <p:spPr>
          <a:xfrm>
            <a:off x="6732270" y="3288031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Sem limites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3985260"/>
            <a:ext cx="5608320" cy="2484120"/>
          </a:xfrm>
          <a:prstGeom prst="roundRect">
            <a:avLst>
              <a:gd name="adj" fmla="val 613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130" y="4259580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3908" y="441769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22" name="Text 20"/>
          <p:cNvSpPr/>
          <p:nvPr/>
        </p:nvSpPr>
        <p:spPr>
          <a:xfrm>
            <a:off x="1417320" y="4408170"/>
            <a:ext cx="1838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Cultura de Dados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320" y="5055870"/>
            <a:ext cx="5153025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Vendedores são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incentivados a registrar melhor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para manter o score alto. A qualidade dos dados vira hábito, não obrigação.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4370" y="60121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25" name="Text 23"/>
          <p:cNvSpPr/>
          <p:nvPr/>
        </p:nvSpPr>
        <p:spPr>
          <a:xfrm>
            <a:off x="922020" y="597408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Engajamento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060" y="3985260"/>
            <a:ext cx="5608320" cy="2484120"/>
          </a:xfrm>
          <a:prstGeom prst="roundRect">
            <a:avLst>
              <a:gd name="adj" fmla="val 6135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9380" y="4259580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30196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876" y="441769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29" name="Text 27"/>
          <p:cNvSpPr/>
          <p:nvPr/>
        </p:nvSpPr>
        <p:spPr>
          <a:xfrm>
            <a:off x="7227570" y="4184053"/>
            <a:ext cx="2793833" cy="732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Consistência Operacional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5570" y="5055870"/>
            <a:ext cx="5153025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Redução do gap de performance entre os vendedores, garantindo que o padrão de atendimento seja o mesmo em todos os casos.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4620" y="60121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2" name="Text 30"/>
          <p:cNvSpPr/>
          <p:nvPr/>
        </p:nvSpPr>
        <p:spPr>
          <a:xfrm>
            <a:off x="6732270" y="5974080"/>
            <a:ext cx="657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Precisão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" name="Text 1"/>
          <p:cNvSpPr/>
          <p:nvPr/>
        </p:nvSpPr>
        <p:spPr>
          <a:xfrm>
            <a:off x="609600" y="381000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51625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Fluxo de Funcionamento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862615"/>
            <a:ext cx="2674620" cy="2141220"/>
          </a:xfrm>
          <a:prstGeom prst="roundRect">
            <a:avLst>
              <a:gd name="adj" fmla="val 7117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030" y="2098833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526" y="22569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8" name="Text 6"/>
          <p:cNvSpPr/>
          <p:nvPr/>
        </p:nvSpPr>
        <p:spPr>
          <a:xfrm>
            <a:off x="617220" y="2895123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Sincronização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3276123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Coleta automática de deals e históricos do CRM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9460" y="1862615"/>
            <a:ext cx="2674620" cy="2141220"/>
          </a:xfrm>
          <a:prstGeom prst="roundRect">
            <a:avLst>
              <a:gd name="adj" fmla="val 7117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5680" y="2098833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6176" y="225694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3531870" y="2895123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Processamento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1870" y="3276123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IA analisa interações, agendas e atrasos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4110" y="1862615"/>
            <a:ext cx="2674620" cy="2141220"/>
          </a:xfrm>
          <a:prstGeom prst="roundRect">
            <a:avLst>
              <a:gd name="adj" fmla="val 7117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0330" y="2098833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6545" y="225694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73794" y="17859"/>
                </a:moveTo>
                <a:lnTo>
                  <a:pt x="178594" y="17859"/>
                </a:lnTo>
                <a:cubicBezTo>
                  <a:pt x="198295" y="17859"/>
                  <a:pt x="214313" y="33877"/>
                  <a:pt x="214313" y="53578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53578"/>
                </a:lnTo>
                <a:cubicBezTo>
                  <a:pt x="0" y="33877"/>
                  <a:pt x="16018" y="17859"/>
                  <a:pt x="35719" y="17859"/>
                </a:cubicBezTo>
                <a:lnTo>
                  <a:pt x="40518" y="17859"/>
                </a:lnTo>
                <a:cubicBezTo>
                  <a:pt x="46658" y="7200"/>
                  <a:pt x="58210" y="0"/>
                  <a:pt x="71438" y="0"/>
                </a:cubicBezTo>
                <a:lnTo>
                  <a:pt x="142875" y="0"/>
                </a:lnTo>
                <a:cubicBezTo>
                  <a:pt x="156102" y="0"/>
                  <a:pt x="167655" y="7200"/>
                  <a:pt x="173794" y="17859"/>
                </a:cubicBezTo>
                <a:close/>
                <a:moveTo>
                  <a:pt x="138410" y="62508"/>
                </a:moveTo>
                <a:cubicBezTo>
                  <a:pt x="145833" y="62508"/>
                  <a:pt x="151805" y="56536"/>
                  <a:pt x="151805" y="49113"/>
                </a:cubicBezTo>
                <a:cubicBezTo>
                  <a:pt x="151805" y="41690"/>
                  <a:pt x="145833" y="35719"/>
                  <a:pt x="138410" y="35719"/>
                </a:cubicBezTo>
                <a:lnTo>
                  <a:pt x="75902" y="35719"/>
                </a:lnTo>
                <a:cubicBezTo>
                  <a:pt x="68480" y="35719"/>
                  <a:pt x="62508" y="41690"/>
                  <a:pt x="62508" y="49113"/>
                </a:cubicBezTo>
                <a:cubicBezTo>
                  <a:pt x="62508" y="56536"/>
                  <a:pt x="68480" y="62508"/>
                  <a:pt x="75902" y="62508"/>
                </a:cubicBezTo>
                <a:lnTo>
                  <a:pt x="138410" y="62508"/>
                </a:lnTo>
                <a:close/>
                <a:moveTo>
                  <a:pt x="154260" y="145498"/>
                </a:moveTo>
                <a:cubicBezTo>
                  <a:pt x="158167" y="139247"/>
                  <a:pt x="156270" y="130987"/>
                  <a:pt x="150019" y="127025"/>
                </a:cubicBezTo>
                <a:cubicBezTo>
                  <a:pt x="143768" y="123062"/>
                  <a:pt x="135508" y="125016"/>
                  <a:pt x="131545" y="131266"/>
                </a:cubicBezTo>
                <a:lnTo>
                  <a:pt x="97278" y="186128"/>
                </a:lnTo>
                <a:lnTo>
                  <a:pt x="82209" y="166036"/>
                </a:lnTo>
                <a:cubicBezTo>
                  <a:pt x="77744" y="160120"/>
                  <a:pt x="69373" y="158893"/>
                  <a:pt x="63457" y="163357"/>
                </a:cubicBezTo>
                <a:cubicBezTo>
                  <a:pt x="57541" y="167822"/>
                  <a:pt x="56313" y="176194"/>
                  <a:pt x="60778" y="182110"/>
                </a:cubicBezTo>
                <a:lnTo>
                  <a:pt x="87567" y="217829"/>
                </a:lnTo>
                <a:cubicBezTo>
                  <a:pt x="90190" y="221345"/>
                  <a:pt x="94431" y="223354"/>
                  <a:pt x="98840" y="223186"/>
                </a:cubicBezTo>
                <a:cubicBezTo>
                  <a:pt x="103250" y="223019"/>
                  <a:pt x="107268" y="220675"/>
                  <a:pt x="109612" y="216880"/>
                </a:cubicBezTo>
                <a:lnTo>
                  <a:pt x="154260" y="145442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18" name="Text 16"/>
          <p:cNvSpPr/>
          <p:nvPr/>
        </p:nvSpPr>
        <p:spPr>
          <a:xfrm>
            <a:off x="6446520" y="2895123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Auditoria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276123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Aplicação das regras de score (60/40/20)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28760" y="1862615"/>
            <a:ext cx="2674620" cy="2141220"/>
          </a:xfrm>
          <a:prstGeom prst="roundRect">
            <a:avLst>
              <a:gd name="adj" fmla="val 7117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64980" y="2098833"/>
            <a:ext cx="598170" cy="59817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7617" y="225694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85973" y="133945"/>
                </a:moveTo>
                <a:lnTo>
                  <a:pt x="187747" y="133945"/>
                </a:lnTo>
                <a:cubicBezTo>
                  <a:pt x="177868" y="133945"/>
                  <a:pt x="169887" y="125964"/>
                  <a:pt x="169887" y="116086"/>
                </a:cubicBezTo>
                <a:lnTo>
                  <a:pt x="169887" y="17859"/>
                </a:lnTo>
                <a:cubicBezTo>
                  <a:pt x="169887" y="7981"/>
                  <a:pt x="177924" y="-112"/>
                  <a:pt x="187691" y="1172"/>
                </a:cubicBezTo>
                <a:cubicBezTo>
                  <a:pt x="247408" y="9097"/>
                  <a:pt x="294735" y="56424"/>
                  <a:pt x="302661" y="116142"/>
                </a:cubicBezTo>
                <a:cubicBezTo>
                  <a:pt x="303944" y="125909"/>
                  <a:pt x="295852" y="133945"/>
                  <a:pt x="285973" y="133945"/>
                </a:cubicBezTo>
                <a:close/>
                <a:moveTo>
                  <a:pt x="124234" y="20762"/>
                </a:moveTo>
                <a:cubicBezTo>
                  <a:pt x="134336" y="18641"/>
                  <a:pt x="143098" y="26901"/>
                  <a:pt x="143098" y="37226"/>
                </a:cubicBezTo>
                <a:lnTo>
                  <a:pt x="143098" y="147340"/>
                </a:lnTo>
                <a:cubicBezTo>
                  <a:pt x="143098" y="150465"/>
                  <a:pt x="144214" y="153479"/>
                  <a:pt x="146168" y="155879"/>
                </a:cubicBezTo>
                <a:lnTo>
                  <a:pt x="219894" y="244841"/>
                </a:lnTo>
                <a:cubicBezTo>
                  <a:pt x="226423" y="252710"/>
                  <a:pt x="225028" y="264598"/>
                  <a:pt x="216043" y="269453"/>
                </a:cubicBezTo>
                <a:cubicBezTo>
                  <a:pt x="197011" y="279834"/>
                  <a:pt x="175189" y="285750"/>
                  <a:pt x="152028" y="285750"/>
                </a:cubicBezTo>
                <a:cubicBezTo>
                  <a:pt x="78079" y="285750"/>
                  <a:pt x="18083" y="225754"/>
                  <a:pt x="18083" y="151805"/>
                </a:cubicBezTo>
                <a:cubicBezTo>
                  <a:pt x="18083" y="87344"/>
                  <a:pt x="63568" y="33542"/>
                  <a:pt x="124234" y="20762"/>
                </a:cubicBezTo>
                <a:close/>
                <a:moveTo>
                  <a:pt x="266663" y="160734"/>
                </a:moveTo>
                <a:lnTo>
                  <a:pt x="302382" y="160734"/>
                </a:lnTo>
                <a:cubicBezTo>
                  <a:pt x="312706" y="160734"/>
                  <a:pt x="320966" y="169497"/>
                  <a:pt x="318846" y="179598"/>
                </a:cubicBezTo>
                <a:cubicBezTo>
                  <a:pt x="313153" y="206611"/>
                  <a:pt x="299312" y="230609"/>
                  <a:pt x="280002" y="248915"/>
                </a:cubicBezTo>
                <a:cubicBezTo>
                  <a:pt x="273137" y="255445"/>
                  <a:pt x="262365" y="254050"/>
                  <a:pt x="256338" y="246738"/>
                </a:cubicBezTo>
                <a:lnTo>
                  <a:pt x="209234" y="189979"/>
                </a:lnTo>
                <a:cubicBezTo>
                  <a:pt x="199579" y="178315"/>
                  <a:pt x="207894" y="160734"/>
                  <a:pt x="222963" y="160734"/>
                </a:cubicBezTo>
                <a:lnTo>
                  <a:pt x="266607" y="160734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23" name="Text 21"/>
          <p:cNvSpPr/>
          <p:nvPr/>
        </p:nvSpPr>
        <p:spPr>
          <a:xfrm>
            <a:off x="9361170" y="2895123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Entrega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61170" y="3276123"/>
            <a:ext cx="22860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 de tendências e feedbacks consultivos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4392454"/>
            <a:ext cx="11418570" cy="1588770"/>
          </a:xfrm>
          <a:prstGeom prst="roundRect">
            <a:avLst>
              <a:gd name="adj" fmla="val 9592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7230" y="4811912"/>
            <a:ext cx="750570" cy="750570"/>
          </a:xfrm>
          <a:prstGeom prst="roundRect">
            <a:avLst>
              <a:gd name="adj" fmla="val 20305"/>
            </a:avLst>
          </a:prstGeom>
          <a:solidFill>
            <a:srgbClr val="6366F1">
              <a:alpha val="30196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5833" y="5017652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28" name="Text 26"/>
          <p:cNvSpPr/>
          <p:nvPr/>
        </p:nvSpPr>
        <p:spPr>
          <a:xfrm>
            <a:off x="1684020" y="4701064"/>
            <a:ext cx="9925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Resultado do Processo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84020" y="5120046"/>
            <a:ext cx="989647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 sistema puxa os dados, a IA processa cada interação buscando falhas ou sucessos, aplica a régua de pontuação e entrega ao gestor um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mapa de calor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de onde a operação está falhando.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54630" y="17140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1" name="Text 29"/>
          <p:cNvSpPr/>
          <p:nvPr/>
        </p:nvSpPr>
        <p:spPr>
          <a:xfrm>
            <a:off x="2707005" y="1714023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69280" y="17140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3" name="Text 31"/>
          <p:cNvSpPr/>
          <p:nvPr/>
        </p:nvSpPr>
        <p:spPr>
          <a:xfrm>
            <a:off x="5621655" y="1714023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83930" y="17140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5" name="Text 33"/>
          <p:cNvSpPr/>
          <p:nvPr/>
        </p:nvSpPr>
        <p:spPr>
          <a:xfrm>
            <a:off x="8536305" y="1714023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498581" y="171402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7" name="Text 35"/>
          <p:cNvSpPr/>
          <p:nvPr/>
        </p:nvSpPr>
        <p:spPr>
          <a:xfrm>
            <a:off x="11450956" y="1714023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" name="Text 1"/>
          <p:cNvSpPr/>
          <p:nvPr/>
        </p:nvSpPr>
        <p:spPr>
          <a:xfrm>
            <a:off x="609600" y="381000"/>
            <a:ext cx="4486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MÉTODO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Metodologia de Score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"Cabeça" da IA — Classificação inteligente da saúde dos negócios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642110"/>
            <a:ext cx="3674745" cy="3722370"/>
          </a:xfrm>
          <a:prstGeom prst="roundRect">
            <a:avLst>
              <a:gd name="adj" fmla="val 4147"/>
            </a:avLst>
          </a:prstGeom>
          <a:gradFill flip="none" rotWithShape="1">
            <a:gsLst>
              <a:gs pos="0">
                <a:srgbClr val="00BC7D">
                  <a:alpha val="20000"/>
                </a:srgbClr>
              </a:gs>
              <a:gs pos="100000">
                <a:srgbClr val="00BC7D">
                  <a:alpha val="5000"/>
                </a:srgbClr>
              </a:gs>
            </a:gsLst>
            <a:lin ang="5400000" scaled="1"/>
          </a:gradFill>
          <a:ln w="10160">
            <a:solidFill>
              <a:srgbClr val="00BC7D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030" y="1878330"/>
            <a:ext cx="521970" cy="521970"/>
          </a:xfrm>
          <a:prstGeom prst="roundRect">
            <a:avLst>
              <a:gd name="adj" fmla="val 29197"/>
            </a:avLst>
          </a:prstGeom>
          <a:solidFill>
            <a:srgbClr val="00BC7D">
              <a:alpha val="30196"/>
            </a:srgbClr>
          </a:solidFill>
          <a:ln w="10160">
            <a:solidFill>
              <a:srgbClr val="00BC7D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9620" y="2026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D492"/>
          </a:solidFill>
        </p:spPr>
      </p:sp>
      <p:sp>
        <p:nvSpPr>
          <p:cNvPr id="9" name="Text 7"/>
          <p:cNvSpPr/>
          <p:nvPr/>
        </p:nvSpPr>
        <p:spPr>
          <a:xfrm>
            <a:off x="1264920" y="1893570"/>
            <a:ext cx="1038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D49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Saudável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4920" y="2198252"/>
            <a:ext cx="990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492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70-100 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560320"/>
            <a:ext cx="329565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Processo perfeito, dados completos e atualizados.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" y="3763328"/>
            <a:ext cx="3209925" cy="1371600"/>
          </a:xfrm>
          <a:prstGeom prst="roundRect">
            <a:avLst>
              <a:gd name="adj" fmla="val 8333"/>
            </a:avLst>
          </a:prstGeom>
          <a:solidFill>
            <a:srgbClr val="00BC7D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79145" y="395382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00D492"/>
          </a:solidFill>
        </p:spPr>
      </p:sp>
      <p:sp>
        <p:nvSpPr>
          <p:cNvPr id="14" name="Text 12"/>
          <p:cNvSpPr/>
          <p:nvPr/>
        </p:nvSpPr>
        <p:spPr>
          <a:xfrm>
            <a:off x="1036320" y="3915728"/>
            <a:ext cx="86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49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9620" y="42205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Próximo passo definido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9620" y="44872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Tarefas em dia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9620" y="47539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Dados do cliente completos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8270" y="1642110"/>
            <a:ext cx="3674745" cy="3722370"/>
          </a:xfrm>
          <a:prstGeom prst="roundRect">
            <a:avLst>
              <a:gd name="adj" fmla="val 4147"/>
            </a:avLst>
          </a:prstGeom>
          <a:gradFill flip="none" rotWithShape="1">
            <a:gsLst>
              <a:gs pos="0">
                <a:srgbClr val="FE9A00">
                  <a:alpha val="20000"/>
                </a:srgbClr>
              </a:gs>
              <a:gs pos="100000">
                <a:srgbClr val="FE9A00">
                  <a:alpha val="5000"/>
                </a:srgbClr>
              </a:gs>
            </a:gsLst>
            <a:lin ang="5400000" scaled="1"/>
          </a:gradFill>
          <a:ln w="10160">
            <a:solidFill>
              <a:srgbClr val="FE9A0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4490" y="1878330"/>
            <a:ext cx="521970" cy="521970"/>
          </a:xfrm>
          <a:prstGeom prst="roundRect">
            <a:avLst>
              <a:gd name="adj" fmla="val 29197"/>
            </a:avLst>
          </a:prstGeom>
          <a:solidFill>
            <a:srgbClr val="FE9A00">
              <a:alpha val="30196"/>
            </a:srgbClr>
          </a:solidFill>
          <a:ln w="10160">
            <a:solidFill>
              <a:srgbClr val="FE9A00">
                <a:alpha val="5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3080" y="2026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B900"/>
          </a:solidFill>
        </p:spPr>
      </p:sp>
      <p:sp>
        <p:nvSpPr>
          <p:cNvPr id="21" name="Text 19"/>
          <p:cNvSpPr/>
          <p:nvPr/>
        </p:nvSpPr>
        <p:spPr>
          <a:xfrm>
            <a:off x="5138381" y="1893570"/>
            <a:ext cx="9620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B9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Atenção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38381" y="2198252"/>
            <a:ext cx="914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B900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40-69 pts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90680" y="2560320"/>
            <a:ext cx="329565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Gaps de informação ou atrasos leves detectados.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90680" y="3763328"/>
            <a:ext cx="3209925" cy="1371600"/>
          </a:xfrm>
          <a:prstGeom prst="roundRect">
            <a:avLst>
              <a:gd name="adj" fmla="val 8333"/>
            </a:avLst>
          </a:prstGeom>
          <a:solidFill>
            <a:srgbClr val="FE9A00">
              <a:alpha val="1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4652605" y="395382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B900"/>
          </a:solidFill>
        </p:spPr>
      </p:sp>
      <p:sp>
        <p:nvSpPr>
          <p:cNvPr id="26" name="Text 24"/>
          <p:cNvSpPr/>
          <p:nvPr/>
        </p:nvSpPr>
        <p:spPr>
          <a:xfrm>
            <a:off x="4909781" y="3915728"/>
            <a:ext cx="86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B9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43080" y="42205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Informações incompletas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3080" y="44872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Pequenos atrasos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43080" y="47539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Falta dados secundários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1731" y="1642110"/>
            <a:ext cx="3674745" cy="3722370"/>
          </a:xfrm>
          <a:prstGeom prst="roundRect">
            <a:avLst>
              <a:gd name="adj" fmla="val 4147"/>
            </a:avLst>
          </a:pr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FB2C36">
                  <a:alpha val="5000"/>
                </a:srgbClr>
              </a:gs>
            </a:gsLst>
            <a:lin ang="5400000" scaled="1"/>
          </a:gradFill>
          <a:ln w="1016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7951" y="1878330"/>
            <a:ext cx="521970" cy="521970"/>
          </a:xfrm>
          <a:prstGeom prst="roundRect">
            <a:avLst>
              <a:gd name="adj" fmla="val 29197"/>
            </a:avLst>
          </a:prstGeom>
          <a:solidFill>
            <a:srgbClr val="FB2C36">
              <a:alpha val="30196"/>
            </a:srgbClr>
          </a:solidFill>
          <a:ln w="1016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16541" y="20269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3" name="Text 31"/>
          <p:cNvSpPr/>
          <p:nvPr/>
        </p:nvSpPr>
        <p:spPr>
          <a:xfrm>
            <a:off x="9011841" y="1893570"/>
            <a:ext cx="781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Crítico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11841" y="2198252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0-39 pts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64141" y="2560320"/>
            <a:ext cx="3295650" cy="1047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Risco real de perda do negócio, processo falho.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64141" y="3763328"/>
            <a:ext cx="3209925" cy="1371600"/>
          </a:xfrm>
          <a:prstGeom prst="roundRect">
            <a:avLst>
              <a:gd name="adj" fmla="val 8333"/>
            </a:avLst>
          </a:prstGeom>
          <a:solidFill>
            <a:srgbClr val="FB2C36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8526066" y="395382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38" name="Text 36"/>
          <p:cNvSpPr/>
          <p:nvPr/>
        </p:nvSpPr>
        <p:spPr>
          <a:xfrm>
            <a:off x="8783241" y="3915728"/>
            <a:ext cx="86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Indicadores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16541" y="42205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Sem próximo passo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16541" y="44872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Tarefas vencidas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16541" y="4753928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Dados críticos ausentes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4810" y="5527359"/>
            <a:ext cx="11418570" cy="950595"/>
          </a:xfrm>
          <a:prstGeom prst="roundRect">
            <a:avLst>
              <a:gd name="adj" fmla="val 16032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3407" y="58859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4" name="Text 42"/>
          <p:cNvSpPr/>
          <p:nvPr/>
        </p:nvSpPr>
        <p:spPr>
          <a:xfrm>
            <a:off x="987623" y="5721667"/>
            <a:ext cx="107156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Nota: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Um score baixo não significa um mau vendedor, mas um </a:t>
            </a:r>
            <a:r>
              <a:rPr lang="en-US" sz="135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processo mal executado ou mal registrado</a:t>
            </a:r>
            <a:r>
              <a:rPr lang="en-US" sz="13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o que representa um risco de dados para a operação.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736" y="428657"/>
            <a:ext cx="65947" cy="3956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" name="Text 1"/>
          <p:cNvSpPr/>
          <p:nvPr/>
        </p:nvSpPr>
        <p:spPr>
          <a:xfrm>
            <a:off x="527578" y="329736"/>
            <a:ext cx="3462231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kern="0" spc="45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CRITÉRIOS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7578" y="527578"/>
            <a:ext cx="3602369" cy="395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1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Regras de Auditoria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736" y="1121103"/>
            <a:ext cx="11606718" cy="230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Pontos de Cobrança — A IA é implacável com a qualidade dos dados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034" y="1553058"/>
            <a:ext cx="5678059" cy="2339479"/>
          </a:xfrm>
          <a:prstGeom prst="roundRect">
            <a:avLst>
              <a:gd name="adj" fmla="val 5638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7470" y="1757495"/>
            <a:ext cx="451739" cy="451739"/>
          </a:xfrm>
          <a:prstGeom prst="roundRect">
            <a:avLst>
              <a:gd name="adj" fmla="val 29197"/>
            </a:avLst>
          </a:prstGeom>
          <a:solidFill>
            <a:srgbClr val="FB2C36">
              <a:alpha val="20000"/>
            </a:srgbClr>
          </a:solidFill>
          <a:ln w="1016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067" y="1886092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41890" y="159394"/>
                </a:moveTo>
                <a:lnTo>
                  <a:pt x="38448" y="55952"/>
                </a:lnTo>
                <a:cubicBezTo>
                  <a:pt x="29792" y="68085"/>
                  <a:pt x="24730" y="82924"/>
                  <a:pt x="24730" y="98921"/>
                </a:cubicBezTo>
                <a:cubicBezTo>
                  <a:pt x="24730" y="139880"/>
                  <a:pt x="57961" y="173112"/>
                  <a:pt x="98921" y="173112"/>
                </a:cubicBezTo>
                <a:cubicBezTo>
                  <a:pt x="114957" y="173112"/>
                  <a:pt x="129795" y="168050"/>
                  <a:pt x="141890" y="159394"/>
                </a:cubicBezTo>
                <a:close/>
                <a:moveTo>
                  <a:pt x="159394" y="141890"/>
                </a:moveTo>
                <a:cubicBezTo>
                  <a:pt x="168050" y="129756"/>
                  <a:pt x="173112" y="114918"/>
                  <a:pt x="173112" y="98921"/>
                </a:cubicBezTo>
                <a:cubicBezTo>
                  <a:pt x="173112" y="57961"/>
                  <a:pt x="139880" y="24730"/>
                  <a:pt x="98921" y="24730"/>
                </a:cubicBezTo>
                <a:cubicBezTo>
                  <a:pt x="82885" y="24730"/>
                  <a:pt x="68047" y="29792"/>
                  <a:pt x="55952" y="38448"/>
                </a:cubicBezTo>
                <a:lnTo>
                  <a:pt x="159394" y="141890"/>
                </a:lnTo>
                <a:close/>
                <a:moveTo>
                  <a:pt x="0" y="98921"/>
                </a:moveTo>
                <a:cubicBezTo>
                  <a:pt x="0" y="44325"/>
                  <a:pt x="44325" y="0"/>
                  <a:pt x="98921" y="0"/>
                </a:cubicBezTo>
                <a:cubicBezTo>
                  <a:pt x="153517" y="0"/>
                  <a:pt x="197842" y="44325"/>
                  <a:pt x="197842" y="98921"/>
                </a:cubicBezTo>
                <a:cubicBezTo>
                  <a:pt x="197842" y="153517"/>
                  <a:pt x="153517" y="197842"/>
                  <a:pt x="98921" y="197842"/>
                </a:cubicBezTo>
                <a:cubicBezTo>
                  <a:pt x="44325" y="197842"/>
                  <a:pt x="0" y="153517"/>
                  <a:pt x="0" y="9892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9" name="Text 7"/>
          <p:cNvSpPr/>
          <p:nvPr/>
        </p:nvSpPr>
        <p:spPr>
          <a:xfrm>
            <a:off x="1127698" y="1770684"/>
            <a:ext cx="1434353" cy="2637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Anti-Abandono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7698" y="2034371"/>
            <a:ext cx="1393136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Teto: 20 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173" y="2347725"/>
            <a:ext cx="5349972" cy="486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Proibido negócio sem 'Próximo Passo'</a:t>
            </a:r>
            <a:r>
              <a:rPr lang="en-US" sz="11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Se não tem tarefa futura, o negócio morreu.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173" y="2961859"/>
            <a:ext cx="5275781" cy="725420"/>
          </a:xfrm>
          <a:prstGeom prst="roundRect">
            <a:avLst>
              <a:gd name="adj" fmla="val 13636"/>
            </a:avLst>
          </a:prstGeom>
          <a:solidFill>
            <a:srgbClr val="FB2C36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82554" y="3126727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65947" y="35034"/>
                </a:moveTo>
                <a:cubicBezTo>
                  <a:pt x="69373" y="35034"/>
                  <a:pt x="72130" y="37791"/>
                  <a:pt x="72130" y="41217"/>
                </a:cubicBezTo>
                <a:lnTo>
                  <a:pt x="72130" y="70069"/>
                </a:lnTo>
                <a:cubicBezTo>
                  <a:pt x="72130" y="73495"/>
                  <a:pt x="69373" y="76252"/>
                  <a:pt x="65947" y="76252"/>
                </a:cubicBezTo>
                <a:cubicBezTo>
                  <a:pt x="62521" y="76252"/>
                  <a:pt x="59765" y="73495"/>
                  <a:pt x="59765" y="70069"/>
                </a:cubicBezTo>
                <a:lnTo>
                  <a:pt x="59765" y="41217"/>
                </a:lnTo>
                <a:cubicBezTo>
                  <a:pt x="59765" y="37791"/>
                  <a:pt x="62521" y="35034"/>
                  <a:pt x="65947" y="35034"/>
                </a:cubicBezTo>
                <a:close/>
                <a:moveTo>
                  <a:pt x="59069" y="90677"/>
                </a:moveTo>
                <a:cubicBezTo>
                  <a:pt x="58913" y="88124"/>
                  <a:pt x="60186" y="85695"/>
                  <a:pt x="62375" y="84372"/>
                </a:cubicBezTo>
                <a:cubicBezTo>
                  <a:pt x="64563" y="83048"/>
                  <a:pt x="67306" y="83048"/>
                  <a:pt x="69494" y="84372"/>
                </a:cubicBezTo>
                <a:cubicBezTo>
                  <a:pt x="71683" y="85695"/>
                  <a:pt x="72956" y="88124"/>
                  <a:pt x="72800" y="90677"/>
                </a:cubicBezTo>
                <a:cubicBezTo>
                  <a:pt x="72956" y="93231"/>
                  <a:pt x="71683" y="95660"/>
                  <a:pt x="69494" y="96983"/>
                </a:cubicBezTo>
                <a:cubicBezTo>
                  <a:pt x="67306" y="98307"/>
                  <a:pt x="64563" y="98307"/>
                  <a:pt x="62375" y="96983"/>
                </a:cubicBezTo>
                <a:cubicBezTo>
                  <a:pt x="60186" y="95660"/>
                  <a:pt x="58913" y="93231"/>
                  <a:pt x="59069" y="9067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4" name="Text 12"/>
          <p:cNvSpPr/>
          <p:nvPr/>
        </p:nvSpPr>
        <p:spPr>
          <a:xfrm>
            <a:off x="896883" y="3093753"/>
            <a:ext cx="544065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6067" y="3357542"/>
            <a:ext cx="507793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Score limitado a 20 pts sem próximo passo definido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2144" y="1553058"/>
            <a:ext cx="5678059" cy="2339479"/>
          </a:xfrm>
          <a:prstGeom prst="roundRect">
            <a:avLst>
              <a:gd name="adj" fmla="val 5638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6580" y="1757495"/>
            <a:ext cx="451739" cy="451739"/>
          </a:xfrm>
          <a:prstGeom prst="roundRect">
            <a:avLst>
              <a:gd name="adj" fmla="val 29197"/>
            </a:avLst>
          </a:prstGeom>
          <a:solidFill>
            <a:srgbClr val="FE9A00">
              <a:alpha val="20000"/>
            </a:srgbClr>
          </a:solidFill>
          <a:ln w="10160">
            <a:solidFill>
              <a:srgbClr val="FE9A0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27543" y="1886092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49460" y="0"/>
                </a:moveTo>
                <a:cubicBezTo>
                  <a:pt x="56300" y="0"/>
                  <a:pt x="61826" y="5526"/>
                  <a:pt x="61826" y="12365"/>
                </a:cubicBezTo>
                <a:lnTo>
                  <a:pt x="61826" y="24730"/>
                </a:lnTo>
                <a:lnTo>
                  <a:pt x="111286" y="24730"/>
                </a:lnTo>
                <a:lnTo>
                  <a:pt x="111286" y="12365"/>
                </a:lnTo>
                <a:cubicBezTo>
                  <a:pt x="111286" y="5526"/>
                  <a:pt x="116812" y="0"/>
                  <a:pt x="123651" y="0"/>
                </a:cubicBezTo>
                <a:cubicBezTo>
                  <a:pt x="130491" y="0"/>
                  <a:pt x="136016" y="5526"/>
                  <a:pt x="136016" y="12365"/>
                </a:cubicBezTo>
                <a:lnTo>
                  <a:pt x="136016" y="24730"/>
                </a:lnTo>
                <a:lnTo>
                  <a:pt x="148381" y="24730"/>
                </a:lnTo>
                <a:cubicBezTo>
                  <a:pt x="162022" y="24730"/>
                  <a:pt x="173112" y="35820"/>
                  <a:pt x="173112" y="49460"/>
                </a:cubicBezTo>
                <a:lnTo>
                  <a:pt x="173112" y="160746"/>
                </a:lnTo>
                <a:cubicBezTo>
                  <a:pt x="173112" y="174387"/>
                  <a:pt x="162022" y="185477"/>
                  <a:pt x="148381" y="185477"/>
                </a:cubicBezTo>
                <a:lnTo>
                  <a:pt x="24730" y="185477"/>
                </a:lnTo>
                <a:cubicBezTo>
                  <a:pt x="11090" y="185477"/>
                  <a:pt x="0" y="174387"/>
                  <a:pt x="0" y="160746"/>
                </a:cubicBezTo>
                <a:lnTo>
                  <a:pt x="0" y="49460"/>
                </a:lnTo>
                <a:cubicBezTo>
                  <a:pt x="0" y="35820"/>
                  <a:pt x="11090" y="24730"/>
                  <a:pt x="24730" y="24730"/>
                </a:cubicBezTo>
                <a:lnTo>
                  <a:pt x="37095" y="24730"/>
                </a:lnTo>
                <a:lnTo>
                  <a:pt x="37095" y="12365"/>
                </a:lnTo>
                <a:cubicBezTo>
                  <a:pt x="37095" y="5526"/>
                  <a:pt x="42621" y="0"/>
                  <a:pt x="49460" y="0"/>
                </a:cubicBezTo>
                <a:close/>
                <a:moveTo>
                  <a:pt x="112793" y="85049"/>
                </a:moveTo>
                <a:cubicBezTo>
                  <a:pt x="109161" y="81417"/>
                  <a:pt x="103287" y="81417"/>
                  <a:pt x="99694" y="85049"/>
                </a:cubicBezTo>
                <a:lnTo>
                  <a:pt x="86594" y="98148"/>
                </a:lnTo>
                <a:lnTo>
                  <a:pt x="73495" y="85049"/>
                </a:lnTo>
                <a:cubicBezTo>
                  <a:pt x="69863" y="81417"/>
                  <a:pt x="63989" y="81417"/>
                  <a:pt x="60396" y="85049"/>
                </a:cubicBezTo>
                <a:cubicBezTo>
                  <a:pt x="56802" y="88681"/>
                  <a:pt x="56764" y="94554"/>
                  <a:pt x="60396" y="98148"/>
                </a:cubicBezTo>
                <a:lnTo>
                  <a:pt x="73495" y="111247"/>
                </a:lnTo>
                <a:lnTo>
                  <a:pt x="60396" y="124347"/>
                </a:lnTo>
                <a:cubicBezTo>
                  <a:pt x="56764" y="127979"/>
                  <a:pt x="56764" y="133852"/>
                  <a:pt x="60396" y="137446"/>
                </a:cubicBezTo>
                <a:cubicBezTo>
                  <a:pt x="64028" y="141040"/>
                  <a:pt x="69902" y="141078"/>
                  <a:pt x="73495" y="137446"/>
                </a:cubicBezTo>
                <a:lnTo>
                  <a:pt x="86594" y="124347"/>
                </a:lnTo>
                <a:lnTo>
                  <a:pt x="99694" y="137446"/>
                </a:lnTo>
                <a:cubicBezTo>
                  <a:pt x="103326" y="141078"/>
                  <a:pt x="109199" y="141078"/>
                  <a:pt x="112793" y="137446"/>
                </a:cubicBezTo>
                <a:cubicBezTo>
                  <a:pt x="116387" y="133814"/>
                  <a:pt x="116425" y="127940"/>
                  <a:pt x="112793" y="124347"/>
                </a:cubicBezTo>
                <a:lnTo>
                  <a:pt x="99694" y="111247"/>
                </a:lnTo>
                <a:lnTo>
                  <a:pt x="112793" y="98148"/>
                </a:lnTo>
                <a:cubicBezTo>
                  <a:pt x="116425" y="94516"/>
                  <a:pt x="116425" y="88642"/>
                  <a:pt x="112793" y="85049"/>
                </a:cubicBezTo>
                <a:close/>
              </a:path>
            </a:pathLst>
          </a:custGeom>
          <a:solidFill>
            <a:srgbClr val="FFB900"/>
          </a:solidFill>
        </p:spPr>
      </p:sp>
      <p:sp>
        <p:nvSpPr>
          <p:cNvPr id="19" name="Text 17"/>
          <p:cNvSpPr/>
          <p:nvPr/>
        </p:nvSpPr>
        <p:spPr>
          <a:xfrm>
            <a:off x="6976808" y="1770684"/>
            <a:ext cx="1211781" cy="2637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Zero Atrasos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76808" y="2034371"/>
            <a:ext cx="1170564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FFB9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Teto: 40 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3283" y="2347725"/>
            <a:ext cx="5349972" cy="4863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Tarefas vencidas bloqueiam o score</a:t>
            </a:r>
            <a:r>
              <a:rPr lang="en-US" sz="11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Atraso é falha operacional grave.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3283" y="2961859"/>
            <a:ext cx="5275781" cy="725420"/>
          </a:xfrm>
          <a:prstGeom prst="roundRect">
            <a:avLst>
              <a:gd name="adj" fmla="val 13636"/>
            </a:avLst>
          </a:prstGeom>
          <a:solidFill>
            <a:srgbClr val="FE9A00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531664" y="3126727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65947" y="35034"/>
                </a:moveTo>
                <a:cubicBezTo>
                  <a:pt x="69373" y="35034"/>
                  <a:pt x="72130" y="37791"/>
                  <a:pt x="72130" y="41217"/>
                </a:cubicBezTo>
                <a:lnTo>
                  <a:pt x="72130" y="70069"/>
                </a:lnTo>
                <a:cubicBezTo>
                  <a:pt x="72130" y="73495"/>
                  <a:pt x="69373" y="76252"/>
                  <a:pt x="65947" y="76252"/>
                </a:cubicBezTo>
                <a:cubicBezTo>
                  <a:pt x="62521" y="76252"/>
                  <a:pt x="59765" y="73495"/>
                  <a:pt x="59765" y="70069"/>
                </a:cubicBezTo>
                <a:lnTo>
                  <a:pt x="59765" y="41217"/>
                </a:lnTo>
                <a:cubicBezTo>
                  <a:pt x="59765" y="37791"/>
                  <a:pt x="62521" y="35034"/>
                  <a:pt x="65947" y="35034"/>
                </a:cubicBezTo>
                <a:close/>
                <a:moveTo>
                  <a:pt x="59069" y="90677"/>
                </a:moveTo>
                <a:cubicBezTo>
                  <a:pt x="58913" y="88124"/>
                  <a:pt x="60186" y="85695"/>
                  <a:pt x="62375" y="84372"/>
                </a:cubicBezTo>
                <a:cubicBezTo>
                  <a:pt x="64563" y="83048"/>
                  <a:pt x="67306" y="83048"/>
                  <a:pt x="69494" y="84372"/>
                </a:cubicBezTo>
                <a:cubicBezTo>
                  <a:pt x="71683" y="85695"/>
                  <a:pt x="72956" y="88124"/>
                  <a:pt x="72800" y="90677"/>
                </a:cubicBezTo>
                <a:cubicBezTo>
                  <a:pt x="72956" y="93231"/>
                  <a:pt x="71683" y="95660"/>
                  <a:pt x="69494" y="96983"/>
                </a:cubicBezTo>
                <a:cubicBezTo>
                  <a:pt x="67306" y="98307"/>
                  <a:pt x="64563" y="98307"/>
                  <a:pt x="62375" y="96983"/>
                </a:cubicBezTo>
                <a:cubicBezTo>
                  <a:pt x="60186" y="95660"/>
                  <a:pt x="58913" y="93231"/>
                  <a:pt x="59069" y="90677"/>
                </a:cubicBezTo>
                <a:close/>
              </a:path>
            </a:pathLst>
          </a:custGeom>
          <a:solidFill>
            <a:srgbClr val="FFB900"/>
          </a:solidFill>
        </p:spPr>
      </p:sp>
      <p:sp>
        <p:nvSpPr>
          <p:cNvPr id="24" name="Text 22"/>
          <p:cNvSpPr/>
          <p:nvPr/>
        </p:nvSpPr>
        <p:spPr>
          <a:xfrm>
            <a:off x="6745993" y="3093753"/>
            <a:ext cx="544065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FB9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5178" y="3357542"/>
            <a:ext cx="507793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Score limitado a 40 pts com tarefas atrasadas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034" y="4059879"/>
            <a:ext cx="5678059" cy="2553808"/>
          </a:xfrm>
          <a:prstGeom prst="roundRect">
            <a:avLst>
              <a:gd name="adj" fmla="val 516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470" y="4264314"/>
            <a:ext cx="451739" cy="451739"/>
          </a:xfrm>
          <a:prstGeom prst="roundRect">
            <a:avLst>
              <a:gd name="adj" fmla="val 29197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6067" y="4392911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98921" y="0"/>
                </a:moveTo>
                <a:cubicBezTo>
                  <a:pt x="153517" y="0"/>
                  <a:pt x="197842" y="44325"/>
                  <a:pt x="197842" y="98921"/>
                </a:cubicBezTo>
                <a:cubicBezTo>
                  <a:pt x="197842" y="153517"/>
                  <a:pt x="153517" y="197842"/>
                  <a:pt x="98921" y="197842"/>
                </a:cubicBezTo>
                <a:cubicBezTo>
                  <a:pt x="44325" y="197842"/>
                  <a:pt x="0" y="153517"/>
                  <a:pt x="0" y="98921"/>
                </a:cubicBezTo>
                <a:cubicBezTo>
                  <a:pt x="0" y="44325"/>
                  <a:pt x="44325" y="0"/>
                  <a:pt x="98921" y="0"/>
                </a:cubicBezTo>
                <a:close/>
                <a:moveTo>
                  <a:pt x="89647" y="46369"/>
                </a:moveTo>
                <a:lnTo>
                  <a:pt x="89647" y="98921"/>
                </a:lnTo>
                <a:cubicBezTo>
                  <a:pt x="89647" y="102012"/>
                  <a:pt x="91193" y="104910"/>
                  <a:pt x="93782" y="106649"/>
                </a:cubicBezTo>
                <a:lnTo>
                  <a:pt x="130877" y="131379"/>
                </a:lnTo>
                <a:cubicBezTo>
                  <a:pt x="135127" y="134239"/>
                  <a:pt x="140885" y="133080"/>
                  <a:pt x="143744" y="128790"/>
                </a:cubicBezTo>
                <a:cubicBezTo>
                  <a:pt x="146604" y="124501"/>
                  <a:pt x="145445" y="118782"/>
                  <a:pt x="141155" y="115923"/>
                </a:cubicBezTo>
                <a:lnTo>
                  <a:pt x="108195" y="93975"/>
                </a:lnTo>
                <a:lnTo>
                  <a:pt x="108195" y="46369"/>
                </a:lnTo>
                <a:cubicBezTo>
                  <a:pt x="108195" y="41230"/>
                  <a:pt x="104060" y="37095"/>
                  <a:pt x="98921" y="37095"/>
                </a:cubicBezTo>
                <a:cubicBezTo>
                  <a:pt x="93782" y="37095"/>
                  <a:pt x="89647" y="41230"/>
                  <a:pt x="89647" y="46369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29" name="Text 27"/>
          <p:cNvSpPr/>
          <p:nvPr/>
        </p:nvSpPr>
        <p:spPr>
          <a:xfrm>
            <a:off x="1127698" y="4277503"/>
            <a:ext cx="1681655" cy="2637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Regra da Carência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7698" y="4541192"/>
            <a:ext cx="1640438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Teto: 35 pts se atrasar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173" y="4854542"/>
            <a:ext cx="5349972" cy="700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24h para atualizar o sistema pós-reunião</a:t>
            </a:r>
            <a:r>
              <a:rPr lang="en-US" sz="11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Falha grave de operação.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4173" y="5689187"/>
            <a:ext cx="5275781" cy="725420"/>
          </a:xfrm>
          <a:prstGeom prst="roundRect">
            <a:avLst>
              <a:gd name="adj" fmla="val 13636"/>
            </a:avLst>
          </a:prstGeom>
          <a:solidFill>
            <a:srgbClr val="6366F1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82554" y="5854055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65947" y="35034"/>
                </a:moveTo>
                <a:cubicBezTo>
                  <a:pt x="69373" y="35034"/>
                  <a:pt x="72130" y="37791"/>
                  <a:pt x="72130" y="41217"/>
                </a:cubicBezTo>
                <a:lnTo>
                  <a:pt x="72130" y="70069"/>
                </a:lnTo>
                <a:cubicBezTo>
                  <a:pt x="72130" y="73495"/>
                  <a:pt x="69373" y="76252"/>
                  <a:pt x="65947" y="76252"/>
                </a:cubicBezTo>
                <a:cubicBezTo>
                  <a:pt x="62521" y="76252"/>
                  <a:pt x="59765" y="73495"/>
                  <a:pt x="59765" y="70069"/>
                </a:cubicBezTo>
                <a:lnTo>
                  <a:pt x="59765" y="41217"/>
                </a:lnTo>
                <a:cubicBezTo>
                  <a:pt x="59765" y="37791"/>
                  <a:pt x="62521" y="35034"/>
                  <a:pt x="65947" y="35034"/>
                </a:cubicBezTo>
                <a:close/>
                <a:moveTo>
                  <a:pt x="59069" y="90677"/>
                </a:moveTo>
                <a:cubicBezTo>
                  <a:pt x="58913" y="88124"/>
                  <a:pt x="60186" y="85695"/>
                  <a:pt x="62375" y="84372"/>
                </a:cubicBezTo>
                <a:cubicBezTo>
                  <a:pt x="64563" y="83048"/>
                  <a:pt x="67306" y="83048"/>
                  <a:pt x="69494" y="84372"/>
                </a:cubicBezTo>
                <a:cubicBezTo>
                  <a:pt x="71683" y="85695"/>
                  <a:pt x="72956" y="88124"/>
                  <a:pt x="72800" y="90677"/>
                </a:cubicBezTo>
                <a:cubicBezTo>
                  <a:pt x="72956" y="93231"/>
                  <a:pt x="71683" y="95660"/>
                  <a:pt x="69494" y="96983"/>
                </a:cubicBezTo>
                <a:cubicBezTo>
                  <a:pt x="67306" y="98307"/>
                  <a:pt x="64563" y="98307"/>
                  <a:pt x="62375" y="96983"/>
                </a:cubicBezTo>
                <a:cubicBezTo>
                  <a:pt x="60186" y="95660"/>
                  <a:pt x="58913" y="93231"/>
                  <a:pt x="59069" y="90677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4" name="Text 32"/>
          <p:cNvSpPr/>
          <p:nvPr/>
        </p:nvSpPr>
        <p:spPr>
          <a:xfrm>
            <a:off x="896883" y="5821082"/>
            <a:ext cx="544065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6067" y="6084871"/>
            <a:ext cx="507793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Score limitado a 35 pts se não atualizar em 24h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2144" y="4059879"/>
            <a:ext cx="5678059" cy="2553808"/>
          </a:xfrm>
          <a:prstGeom prst="roundRect">
            <a:avLst>
              <a:gd name="adj" fmla="val 5165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6580" y="4264314"/>
            <a:ext cx="451739" cy="451739"/>
          </a:xfrm>
          <a:prstGeom prst="roundRect">
            <a:avLst>
              <a:gd name="adj" fmla="val 29197"/>
            </a:avLst>
          </a:prstGeom>
          <a:solidFill>
            <a:srgbClr val="00BC7D">
              <a:alpha val="20000"/>
            </a:srgbClr>
          </a:solidFill>
          <a:ln w="10160">
            <a:solidFill>
              <a:srgbClr val="00BC7D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7543" y="4392911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173112" y="79523"/>
                </a:moveTo>
                <a:cubicBezTo>
                  <a:pt x="167393" y="83310"/>
                  <a:pt x="160824" y="86363"/>
                  <a:pt x="153984" y="88797"/>
                </a:cubicBezTo>
                <a:cubicBezTo>
                  <a:pt x="135823" y="95289"/>
                  <a:pt x="111982" y="98921"/>
                  <a:pt x="86556" y="98921"/>
                </a:cubicBezTo>
                <a:cubicBezTo>
                  <a:pt x="61130" y="98921"/>
                  <a:pt x="37250" y="95250"/>
                  <a:pt x="19127" y="88797"/>
                </a:cubicBezTo>
                <a:cubicBezTo>
                  <a:pt x="12326" y="86363"/>
                  <a:pt x="5719" y="83310"/>
                  <a:pt x="0" y="79523"/>
                </a:cubicBezTo>
                <a:lnTo>
                  <a:pt x="0" y="111286"/>
                </a:lnTo>
                <a:cubicBezTo>
                  <a:pt x="0" y="128365"/>
                  <a:pt x="38757" y="142199"/>
                  <a:pt x="86556" y="142199"/>
                </a:cubicBezTo>
                <a:cubicBezTo>
                  <a:pt x="134355" y="142199"/>
                  <a:pt x="173112" y="128365"/>
                  <a:pt x="173112" y="111286"/>
                </a:cubicBezTo>
                <a:lnTo>
                  <a:pt x="173112" y="79523"/>
                </a:lnTo>
                <a:close/>
                <a:moveTo>
                  <a:pt x="173112" y="49460"/>
                </a:moveTo>
                <a:lnTo>
                  <a:pt x="173112" y="30913"/>
                </a:lnTo>
                <a:cubicBezTo>
                  <a:pt x="173112" y="13833"/>
                  <a:pt x="134355" y="0"/>
                  <a:pt x="86556" y="0"/>
                </a:cubicBezTo>
                <a:cubicBezTo>
                  <a:pt x="38757" y="0"/>
                  <a:pt x="0" y="13833"/>
                  <a:pt x="0" y="30913"/>
                </a:cubicBezTo>
                <a:lnTo>
                  <a:pt x="0" y="49460"/>
                </a:lnTo>
                <a:cubicBezTo>
                  <a:pt x="0" y="66540"/>
                  <a:pt x="38757" y="80373"/>
                  <a:pt x="86556" y="80373"/>
                </a:cubicBezTo>
                <a:cubicBezTo>
                  <a:pt x="134355" y="80373"/>
                  <a:pt x="173112" y="66540"/>
                  <a:pt x="173112" y="49460"/>
                </a:cubicBezTo>
                <a:close/>
                <a:moveTo>
                  <a:pt x="153984" y="150623"/>
                </a:moveTo>
                <a:cubicBezTo>
                  <a:pt x="135862" y="157076"/>
                  <a:pt x="112020" y="160746"/>
                  <a:pt x="86556" y="160746"/>
                </a:cubicBezTo>
                <a:cubicBezTo>
                  <a:pt x="61091" y="160746"/>
                  <a:pt x="37250" y="157076"/>
                  <a:pt x="19127" y="150623"/>
                </a:cubicBezTo>
                <a:cubicBezTo>
                  <a:pt x="12326" y="148188"/>
                  <a:pt x="5719" y="145135"/>
                  <a:pt x="0" y="141349"/>
                </a:cubicBezTo>
                <a:lnTo>
                  <a:pt x="0" y="166929"/>
                </a:lnTo>
                <a:cubicBezTo>
                  <a:pt x="0" y="184008"/>
                  <a:pt x="38757" y="197842"/>
                  <a:pt x="86556" y="197842"/>
                </a:cubicBezTo>
                <a:cubicBezTo>
                  <a:pt x="134355" y="197842"/>
                  <a:pt x="173112" y="184008"/>
                  <a:pt x="173112" y="166929"/>
                </a:cubicBezTo>
                <a:lnTo>
                  <a:pt x="173112" y="141349"/>
                </a:lnTo>
                <a:cubicBezTo>
                  <a:pt x="167393" y="145135"/>
                  <a:pt x="160824" y="148188"/>
                  <a:pt x="153984" y="150623"/>
                </a:cubicBezTo>
                <a:close/>
              </a:path>
            </a:pathLst>
          </a:custGeom>
          <a:solidFill>
            <a:srgbClr val="00D492"/>
          </a:solidFill>
        </p:spPr>
      </p:sp>
      <p:sp>
        <p:nvSpPr>
          <p:cNvPr id="39" name="Text 37"/>
          <p:cNvSpPr/>
          <p:nvPr/>
        </p:nvSpPr>
        <p:spPr>
          <a:xfrm>
            <a:off x="6976808" y="4277503"/>
            <a:ext cx="1442596" cy="2637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Dados Exigidos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76808" y="4541192"/>
            <a:ext cx="1401379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00D49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Obrigatórios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83283" y="4854542"/>
            <a:ext cx="5349972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Dores do cliente, Decisor e Valor Financeiro</a:t>
            </a:r>
            <a:r>
              <a:rPr lang="en-US" sz="117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devem estar preenchidos.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3283" y="5227556"/>
            <a:ext cx="5275781" cy="1187051"/>
          </a:xfrm>
          <a:prstGeom prst="roundRect">
            <a:avLst>
              <a:gd name="adj" fmla="val 8333"/>
            </a:avLst>
          </a:prstGeom>
          <a:solidFill>
            <a:srgbClr val="00BC7D">
              <a:alpha val="1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531664" y="5392424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00D492"/>
          </a:solidFill>
        </p:spPr>
      </p:sp>
      <p:sp>
        <p:nvSpPr>
          <p:cNvPr id="44" name="Text 42"/>
          <p:cNvSpPr/>
          <p:nvPr/>
        </p:nvSpPr>
        <p:spPr>
          <a:xfrm>
            <a:off x="6745993" y="5359451"/>
            <a:ext cx="67595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00D49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Requisitos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15178" y="5623240"/>
            <a:ext cx="507793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Dores do cliente mapeadas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15178" y="5854055"/>
            <a:ext cx="507793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Decisor identificado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15178" y="6084871"/>
            <a:ext cx="5077939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Valor financeiro estimado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350" y="451556"/>
            <a:ext cx="69470" cy="416821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" name="Text 1"/>
          <p:cNvSpPr/>
          <p:nvPr/>
        </p:nvSpPr>
        <p:spPr>
          <a:xfrm>
            <a:off x="555761" y="347350"/>
            <a:ext cx="3065368" cy="17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kern="0" spc="48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5761" y="555761"/>
            <a:ext cx="3212991" cy="4168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Entrega por Tela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350" y="1180991"/>
            <a:ext cx="11575453" cy="243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Onde o Usuário Ganha — Cada tela tem um propósito estratégico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824" y="1636021"/>
            <a:ext cx="5660075" cy="2672862"/>
          </a:xfrm>
          <a:prstGeom prst="roundRect">
            <a:avLst>
              <a:gd name="adj" fmla="val 5198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916" y="1886115"/>
            <a:ext cx="545340" cy="545340"/>
          </a:xfrm>
          <a:prstGeom prst="roundRect">
            <a:avLst>
              <a:gd name="adj" fmla="val 25478"/>
            </a:avLst>
          </a:prstGeom>
          <a:solidFill>
            <a:srgbClr val="6366F1">
              <a:alpha val="30196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7238" y="2030266"/>
            <a:ext cx="260513" cy="260513"/>
          </a:xfrm>
          <a:custGeom>
            <a:avLst/>
            <a:gdLst/>
            <a:ahLst/>
            <a:cxnLst/>
            <a:rect l="l" t="t" r="r" b="b"/>
            <a:pathLst>
              <a:path w="260513" h="260513">
                <a:moveTo>
                  <a:pt x="32564" y="32564"/>
                </a:moveTo>
                <a:cubicBezTo>
                  <a:pt x="32564" y="23558"/>
                  <a:pt x="25288" y="16282"/>
                  <a:pt x="16282" y="16282"/>
                </a:cubicBezTo>
                <a:cubicBezTo>
                  <a:pt x="7276" y="16282"/>
                  <a:pt x="0" y="23558"/>
                  <a:pt x="0" y="32564"/>
                </a:cubicBezTo>
                <a:lnTo>
                  <a:pt x="0" y="203526"/>
                </a:lnTo>
                <a:cubicBezTo>
                  <a:pt x="0" y="226015"/>
                  <a:pt x="18216" y="244231"/>
                  <a:pt x="40705" y="244231"/>
                </a:cubicBezTo>
                <a:lnTo>
                  <a:pt x="244231" y="244231"/>
                </a:lnTo>
                <a:cubicBezTo>
                  <a:pt x="253237" y="244231"/>
                  <a:pt x="260513" y="236955"/>
                  <a:pt x="260513" y="227949"/>
                </a:cubicBezTo>
                <a:cubicBezTo>
                  <a:pt x="260513" y="218943"/>
                  <a:pt x="253237" y="211667"/>
                  <a:pt x="244231" y="211667"/>
                </a:cubicBezTo>
                <a:lnTo>
                  <a:pt x="40705" y="211667"/>
                </a:lnTo>
                <a:cubicBezTo>
                  <a:pt x="36228" y="211667"/>
                  <a:pt x="32564" y="208003"/>
                  <a:pt x="32564" y="203526"/>
                </a:cubicBezTo>
                <a:lnTo>
                  <a:pt x="32564" y="32564"/>
                </a:lnTo>
                <a:close/>
                <a:moveTo>
                  <a:pt x="239448" y="76627"/>
                </a:moveTo>
                <a:cubicBezTo>
                  <a:pt x="245808" y="70267"/>
                  <a:pt x="245808" y="59938"/>
                  <a:pt x="239448" y="53578"/>
                </a:cubicBezTo>
                <a:cubicBezTo>
                  <a:pt x="233088" y="47218"/>
                  <a:pt x="222759" y="47218"/>
                  <a:pt x="216399" y="53578"/>
                </a:cubicBezTo>
                <a:lnTo>
                  <a:pt x="162821" y="107207"/>
                </a:lnTo>
                <a:lnTo>
                  <a:pt x="133615" y="78052"/>
                </a:lnTo>
                <a:cubicBezTo>
                  <a:pt x="127254" y="71692"/>
                  <a:pt x="116925" y="71692"/>
                  <a:pt x="110565" y="78052"/>
                </a:cubicBezTo>
                <a:lnTo>
                  <a:pt x="61719" y="126898"/>
                </a:lnTo>
                <a:cubicBezTo>
                  <a:pt x="55359" y="133258"/>
                  <a:pt x="55359" y="143587"/>
                  <a:pt x="61719" y="149948"/>
                </a:cubicBezTo>
                <a:cubicBezTo>
                  <a:pt x="68079" y="156308"/>
                  <a:pt x="78408" y="156308"/>
                  <a:pt x="84768" y="149948"/>
                </a:cubicBezTo>
                <a:lnTo>
                  <a:pt x="122115" y="112601"/>
                </a:lnTo>
                <a:lnTo>
                  <a:pt x="151321" y="141806"/>
                </a:lnTo>
                <a:cubicBezTo>
                  <a:pt x="157681" y="148167"/>
                  <a:pt x="168010" y="148167"/>
                  <a:pt x="174371" y="141806"/>
                </a:cubicBezTo>
                <a:lnTo>
                  <a:pt x="239499" y="76678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1292144" y="1934744"/>
            <a:ext cx="1102838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2144" y="2212515"/>
            <a:ext cx="1059419" cy="17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Visão Gerencial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7443" y="2612078"/>
            <a:ext cx="5244991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Indicadores de tendência em tempo real — </a:t>
            </a:r>
            <a:r>
              <a:rPr lang="en-US" sz="123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quem sobe e quem desce</a:t>
            </a: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na operação.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2178" y="3293753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58235" y="4722"/>
                </a:moveTo>
                <a:cubicBezTo>
                  <a:pt x="54843" y="1330"/>
                  <a:pt x="49335" y="1330"/>
                  <a:pt x="45943" y="4722"/>
                </a:cubicBezTo>
                <a:lnTo>
                  <a:pt x="2524" y="48141"/>
                </a:lnTo>
                <a:cubicBezTo>
                  <a:pt x="-868" y="51533"/>
                  <a:pt x="-868" y="57041"/>
                  <a:pt x="2524" y="60434"/>
                </a:cubicBezTo>
                <a:cubicBezTo>
                  <a:pt x="5916" y="63826"/>
                  <a:pt x="11425" y="63826"/>
                  <a:pt x="14817" y="60434"/>
                </a:cubicBezTo>
                <a:lnTo>
                  <a:pt x="43419" y="31831"/>
                </a:lnTo>
                <a:lnTo>
                  <a:pt x="43419" y="132427"/>
                </a:lnTo>
                <a:cubicBezTo>
                  <a:pt x="43419" y="137231"/>
                  <a:pt x="47299" y="141111"/>
                  <a:pt x="52103" y="141111"/>
                </a:cubicBezTo>
                <a:cubicBezTo>
                  <a:pt x="56906" y="141111"/>
                  <a:pt x="60786" y="137231"/>
                  <a:pt x="60786" y="132427"/>
                </a:cubicBezTo>
                <a:lnTo>
                  <a:pt x="60786" y="31831"/>
                </a:lnTo>
                <a:lnTo>
                  <a:pt x="89388" y="60434"/>
                </a:lnTo>
                <a:cubicBezTo>
                  <a:pt x="92781" y="63826"/>
                  <a:pt x="98289" y="63826"/>
                  <a:pt x="101681" y="60434"/>
                </a:cubicBezTo>
                <a:cubicBezTo>
                  <a:pt x="105074" y="57041"/>
                  <a:pt x="105074" y="51533"/>
                  <a:pt x="101681" y="48141"/>
                </a:cubicBezTo>
                <a:lnTo>
                  <a:pt x="58263" y="4722"/>
                </a:lnTo>
                <a:close/>
              </a:path>
            </a:pathLst>
          </a:custGeom>
          <a:solidFill>
            <a:srgbClr val="00D492"/>
          </a:solidFill>
        </p:spPr>
      </p:sp>
      <p:sp>
        <p:nvSpPr>
          <p:cNvPr id="13" name="Text 11"/>
          <p:cNvSpPr/>
          <p:nvPr/>
        </p:nvSpPr>
        <p:spPr>
          <a:xfrm>
            <a:off x="840588" y="3259018"/>
            <a:ext cx="1146256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00D49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Alto desempenho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5989" y="3293753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45970" y="136389"/>
                </a:moveTo>
                <a:cubicBezTo>
                  <a:pt x="49362" y="139781"/>
                  <a:pt x="54871" y="139781"/>
                  <a:pt x="58263" y="136389"/>
                </a:cubicBezTo>
                <a:lnTo>
                  <a:pt x="101681" y="92971"/>
                </a:lnTo>
                <a:cubicBezTo>
                  <a:pt x="105074" y="89578"/>
                  <a:pt x="105074" y="84070"/>
                  <a:pt x="101681" y="80678"/>
                </a:cubicBezTo>
                <a:cubicBezTo>
                  <a:pt x="98289" y="77285"/>
                  <a:pt x="92781" y="77285"/>
                  <a:pt x="89388" y="80678"/>
                </a:cubicBezTo>
                <a:lnTo>
                  <a:pt x="60786" y="109280"/>
                </a:lnTo>
                <a:lnTo>
                  <a:pt x="60786" y="8684"/>
                </a:lnTo>
                <a:cubicBezTo>
                  <a:pt x="60786" y="3881"/>
                  <a:pt x="56906" y="0"/>
                  <a:pt x="52103" y="0"/>
                </a:cubicBezTo>
                <a:cubicBezTo>
                  <a:pt x="47299" y="0"/>
                  <a:pt x="43419" y="3881"/>
                  <a:pt x="43419" y="8684"/>
                </a:cubicBezTo>
                <a:lnTo>
                  <a:pt x="43419" y="109280"/>
                </a:lnTo>
                <a:lnTo>
                  <a:pt x="14817" y="80678"/>
                </a:lnTo>
                <a:cubicBezTo>
                  <a:pt x="11425" y="77285"/>
                  <a:pt x="5916" y="77285"/>
                  <a:pt x="2524" y="80678"/>
                </a:cubicBezTo>
                <a:cubicBezTo>
                  <a:pt x="-868" y="84070"/>
                  <a:pt x="-868" y="89578"/>
                  <a:pt x="2524" y="92971"/>
                </a:cubicBezTo>
                <a:lnTo>
                  <a:pt x="45943" y="136389"/>
                </a:lnTo>
                <a:close/>
              </a:path>
            </a:pathLst>
          </a:custGeom>
          <a:solidFill>
            <a:srgbClr val="FF6467"/>
          </a:solidFill>
        </p:spPr>
      </p:sp>
      <p:sp>
        <p:nvSpPr>
          <p:cNvPr id="15" name="Text 13"/>
          <p:cNvSpPr/>
          <p:nvPr/>
        </p:nvSpPr>
        <p:spPr>
          <a:xfrm>
            <a:off x="2264399" y="3259018"/>
            <a:ext cx="998632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FF646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Necessita ação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8157" y="1636021"/>
            <a:ext cx="5660075" cy="2672862"/>
          </a:xfrm>
          <a:prstGeom prst="roundRect">
            <a:avLst>
              <a:gd name="adj" fmla="val 5198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8249" y="1886115"/>
            <a:ext cx="545340" cy="54534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4570" y="2030266"/>
            <a:ext cx="260513" cy="260513"/>
          </a:xfrm>
          <a:custGeom>
            <a:avLst/>
            <a:gdLst/>
            <a:ahLst/>
            <a:cxnLst/>
            <a:rect l="l" t="t" r="r" b="b"/>
            <a:pathLst>
              <a:path w="260513" h="260513">
                <a:moveTo>
                  <a:pt x="24423" y="73269"/>
                </a:moveTo>
                <a:cubicBezTo>
                  <a:pt x="37903" y="73269"/>
                  <a:pt x="48846" y="62326"/>
                  <a:pt x="48846" y="48846"/>
                </a:cubicBezTo>
                <a:cubicBezTo>
                  <a:pt x="48846" y="35367"/>
                  <a:pt x="37903" y="24423"/>
                  <a:pt x="24423" y="24423"/>
                </a:cubicBezTo>
                <a:cubicBezTo>
                  <a:pt x="10944" y="24423"/>
                  <a:pt x="0" y="35367"/>
                  <a:pt x="0" y="48846"/>
                </a:cubicBezTo>
                <a:cubicBezTo>
                  <a:pt x="0" y="62326"/>
                  <a:pt x="10944" y="73269"/>
                  <a:pt x="24423" y="73269"/>
                </a:cubicBezTo>
                <a:close/>
                <a:moveTo>
                  <a:pt x="97692" y="32564"/>
                </a:moveTo>
                <a:cubicBezTo>
                  <a:pt x="88686" y="32564"/>
                  <a:pt x="81410" y="39840"/>
                  <a:pt x="81410" y="48846"/>
                </a:cubicBezTo>
                <a:cubicBezTo>
                  <a:pt x="81410" y="57852"/>
                  <a:pt x="88686" y="65128"/>
                  <a:pt x="97692" y="65128"/>
                </a:cubicBezTo>
                <a:lnTo>
                  <a:pt x="244231" y="65128"/>
                </a:lnTo>
                <a:cubicBezTo>
                  <a:pt x="253237" y="65128"/>
                  <a:pt x="260513" y="57852"/>
                  <a:pt x="260513" y="48846"/>
                </a:cubicBezTo>
                <a:cubicBezTo>
                  <a:pt x="260513" y="39840"/>
                  <a:pt x="253237" y="32564"/>
                  <a:pt x="244231" y="32564"/>
                </a:cubicBezTo>
                <a:lnTo>
                  <a:pt x="97692" y="32564"/>
                </a:lnTo>
                <a:close/>
                <a:moveTo>
                  <a:pt x="97692" y="113974"/>
                </a:moveTo>
                <a:cubicBezTo>
                  <a:pt x="88686" y="113974"/>
                  <a:pt x="81410" y="121250"/>
                  <a:pt x="81410" y="130256"/>
                </a:cubicBezTo>
                <a:cubicBezTo>
                  <a:pt x="81410" y="139262"/>
                  <a:pt x="88686" y="146538"/>
                  <a:pt x="97692" y="146538"/>
                </a:cubicBezTo>
                <a:lnTo>
                  <a:pt x="244231" y="146538"/>
                </a:lnTo>
                <a:cubicBezTo>
                  <a:pt x="253237" y="146538"/>
                  <a:pt x="260513" y="139262"/>
                  <a:pt x="260513" y="130256"/>
                </a:cubicBezTo>
                <a:cubicBezTo>
                  <a:pt x="260513" y="121250"/>
                  <a:pt x="253237" y="113974"/>
                  <a:pt x="244231" y="113974"/>
                </a:cubicBezTo>
                <a:lnTo>
                  <a:pt x="97692" y="113974"/>
                </a:lnTo>
                <a:close/>
                <a:moveTo>
                  <a:pt x="97692" y="195385"/>
                </a:moveTo>
                <a:cubicBezTo>
                  <a:pt x="88686" y="195385"/>
                  <a:pt x="81410" y="202661"/>
                  <a:pt x="81410" y="211667"/>
                </a:cubicBezTo>
                <a:cubicBezTo>
                  <a:pt x="81410" y="220673"/>
                  <a:pt x="88686" y="227949"/>
                  <a:pt x="97692" y="227949"/>
                </a:cubicBezTo>
                <a:lnTo>
                  <a:pt x="244231" y="227949"/>
                </a:lnTo>
                <a:cubicBezTo>
                  <a:pt x="253237" y="227949"/>
                  <a:pt x="260513" y="220673"/>
                  <a:pt x="260513" y="211667"/>
                </a:cubicBezTo>
                <a:cubicBezTo>
                  <a:pt x="260513" y="202661"/>
                  <a:pt x="253237" y="195385"/>
                  <a:pt x="244231" y="195385"/>
                </a:cubicBezTo>
                <a:lnTo>
                  <a:pt x="97692" y="195385"/>
                </a:lnTo>
                <a:close/>
                <a:moveTo>
                  <a:pt x="24423" y="236090"/>
                </a:moveTo>
                <a:cubicBezTo>
                  <a:pt x="37903" y="236090"/>
                  <a:pt x="48846" y="225146"/>
                  <a:pt x="48846" y="211667"/>
                </a:cubicBezTo>
                <a:cubicBezTo>
                  <a:pt x="48846" y="198187"/>
                  <a:pt x="37903" y="187244"/>
                  <a:pt x="24423" y="187244"/>
                </a:cubicBezTo>
                <a:cubicBezTo>
                  <a:pt x="10944" y="187244"/>
                  <a:pt x="0" y="198187"/>
                  <a:pt x="0" y="211667"/>
                </a:cubicBezTo>
                <a:cubicBezTo>
                  <a:pt x="0" y="225146"/>
                  <a:pt x="10944" y="236090"/>
                  <a:pt x="24423" y="236090"/>
                </a:cubicBezTo>
                <a:close/>
                <a:moveTo>
                  <a:pt x="48846" y="130256"/>
                </a:moveTo>
                <a:cubicBezTo>
                  <a:pt x="48846" y="116777"/>
                  <a:pt x="37903" y="105833"/>
                  <a:pt x="24423" y="105833"/>
                </a:cubicBezTo>
                <a:cubicBezTo>
                  <a:pt x="10944" y="105833"/>
                  <a:pt x="0" y="116777"/>
                  <a:pt x="0" y="130256"/>
                </a:cubicBezTo>
                <a:cubicBezTo>
                  <a:pt x="0" y="143736"/>
                  <a:pt x="10944" y="154679"/>
                  <a:pt x="24423" y="154679"/>
                </a:cubicBezTo>
                <a:cubicBezTo>
                  <a:pt x="37903" y="154679"/>
                  <a:pt x="48846" y="143736"/>
                  <a:pt x="48846" y="130256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9" name="Text 17"/>
          <p:cNvSpPr/>
          <p:nvPr/>
        </p:nvSpPr>
        <p:spPr>
          <a:xfrm>
            <a:off x="7129476" y="1934744"/>
            <a:ext cx="1137573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Deals 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29476" y="2212515"/>
            <a:ext cx="1094154" cy="17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Raio-X Operacional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4775" y="2612078"/>
            <a:ext cx="5244991" cy="512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Lista detalhada de </a:t>
            </a:r>
            <a:r>
              <a:rPr lang="en-US" sz="123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qual negócio precisa de ajuda agora</a:t>
            </a: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ordenado por prioridade.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34775" y="3259018"/>
            <a:ext cx="5166838" cy="798906"/>
          </a:xfrm>
          <a:prstGeom prst="roundRect">
            <a:avLst>
              <a:gd name="adj" fmla="val 13043"/>
            </a:avLst>
          </a:prstGeom>
          <a:solidFill>
            <a:srgbClr val="6366F1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573715" y="3397958"/>
            <a:ext cx="4958427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Filtros Inteligentes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73715" y="3675838"/>
            <a:ext cx="903111" cy="2431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573715" y="3675838"/>
            <a:ext cx="963897" cy="243145"/>
          </a:xfrm>
          <a:prstGeom prst="rect">
            <a:avLst/>
          </a:prstGeom>
          <a:noFill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Score Crítico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6188" y="3675838"/>
            <a:ext cx="1259145" cy="2431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7546188" y="3675838"/>
            <a:ext cx="1319932" cy="243145"/>
          </a:xfrm>
          <a:prstGeom prst="rect">
            <a:avLst/>
          </a:prstGeom>
          <a:noFill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Sem próximo passo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74369" y="3675838"/>
            <a:ext cx="1163624" cy="243145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874369" y="3675838"/>
            <a:ext cx="1224410" cy="243145"/>
          </a:xfrm>
          <a:prstGeom prst="rect">
            <a:avLst/>
          </a:prstGeom>
          <a:noFill/>
        </p:spPr>
        <p:txBody>
          <a:bodyPr wrap="square" lIns="104205" tIns="34735" rIns="104205" bIns="34735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Tarefas atrasadas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0824" y="4485163"/>
            <a:ext cx="5660075" cy="2117101"/>
          </a:xfrm>
          <a:prstGeom prst="roundRect">
            <a:avLst>
              <a:gd name="adj" fmla="val 6563"/>
            </a:avLst>
          </a:pr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916" y="4735254"/>
            <a:ext cx="545340" cy="545340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0" y="4879404"/>
            <a:ext cx="227949" cy="260513"/>
          </a:xfrm>
          <a:custGeom>
            <a:avLst/>
            <a:gdLst/>
            <a:ahLst/>
            <a:cxnLst/>
            <a:rect l="l" t="t" r="r" b="b"/>
            <a:pathLst>
              <a:path w="227949" h="260513">
                <a:moveTo>
                  <a:pt x="113974" y="126186"/>
                </a:moveTo>
                <a:cubicBezTo>
                  <a:pt x="80276" y="126186"/>
                  <a:pt x="52917" y="98827"/>
                  <a:pt x="52917" y="65128"/>
                </a:cubicBezTo>
                <a:cubicBezTo>
                  <a:pt x="52917" y="31430"/>
                  <a:pt x="80276" y="4071"/>
                  <a:pt x="113974" y="4071"/>
                </a:cubicBezTo>
                <a:cubicBezTo>
                  <a:pt x="147673" y="4071"/>
                  <a:pt x="175032" y="31430"/>
                  <a:pt x="175032" y="65128"/>
                </a:cubicBezTo>
                <a:cubicBezTo>
                  <a:pt x="175032" y="98827"/>
                  <a:pt x="147673" y="126186"/>
                  <a:pt x="113974" y="126186"/>
                </a:cubicBezTo>
                <a:close/>
                <a:moveTo>
                  <a:pt x="98456" y="154679"/>
                </a:moveTo>
                <a:lnTo>
                  <a:pt x="129493" y="154679"/>
                </a:lnTo>
                <a:cubicBezTo>
                  <a:pt x="134429" y="154679"/>
                  <a:pt x="138397" y="158648"/>
                  <a:pt x="138397" y="163584"/>
                </a:cubicBezTo>
                <a:cubicBezTo>
                  <a:pt x="138397" y="165721"/>
                  <a:pt x="137634" y="167756"/>
                  <a:pt x="136260" y="169384"/>
                </a:cubicBezTo>
                <a:lnTo>
                  <a:pt x="122319" y="185666"/>
                </a:lnTo>
                <a:lnTo>
                  <a:pt x="138092" y="244231"/>
                </a:lnTo>
                <a:lnTo>
                  <a:pt x="138397" y="244231"/>
                </a:lnTo>
                <a:lnTo>
                  <a:pt x="156002" y="173760"/>
                </a:lnTo>
                <a:cubicBezTo>
                  <a:pt x="157122" y="169333"/>
                  <a:pt x="161650" y="166637"/>
                  <a:pt x="165924" y="168265"/>
                </a:cubicBezTo>
                <a:cubicBezTo>
                  <a:pt x="197420" y="180273"/>
                  <a:pt x="219808" y="210802"/>
                  <a:pt x="219808" y="246520"/>
                </a:cubicBezTo>
                <a:cubicBezTo>
                  <a:pt x="219808" y="254204"/>
                  <a:pt x="213549" y="260462"/>
                  <a:pt x="205866" y="260462"/>
                </a:cubicBezTo>
                <a:lnTo>
                  <a:pt x="22083" y="260513"/>
                </a:lnTo>
                <a:cubicBezTo>
                  <a:pt x="14399" y="260513"/>
                  <a:pt x="8141" y="254254"/>
                  <a:pt x="8141" y="246571"/>
                </a:cubicBezTo>
                <a:cubicBezTo>
                  <a:pt x="8141" y="210853"/>
                  <a:pt x="30529" y="180324"/>
                  <a:pt x="62024" y="168316"/>
                </a:cubicBezTo>
                <a:cubicBezTo>
                  <a:pt x="66298" y="166688"/>
                  <a:pt x="70827" y="169384"/>
                  <a:pt x="71946" y="173811"/>
                </a:cubicBezTo>
                <a:lnTo>
                  <a:pt x="89551" y="244282"/>
                </a:lnTo>
                <a:lnTo>
                  <a:pt x="89857" y="244282"/>
                </a:lnTo>
                <a:lnTo>
                  <a:pt x="105630" y="185717"/>
                </a:lnTo>
                <a:lnTo>
                  <a:pt x="91688" y="169435"/>
                </a:lnTo>
                <a:cubicBezTo>
                  <a:pt x="90315" y="167807"/>
                  <a:pt x="89551" y="165772"/>
                  <a:pt x="89551" y="163635"/>
                </a:cubicBezTo>
                <a:cubicBezTo>
                  <a:pt x="89551" y="158699"/>
                  <a:pt x="93520" y="154730"/>
                  <a:pt x="98456" y="154730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3" name="Text 31"/>
          <p:cNvSpPr/>
          <p:nvPr/>
        </p:nvSpPr>
        <p:spPr>
          <a:xfrm>
            <a:off x="1292144" y="4783883"/>
            <a:ext cx="2040684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Visão Vendedor/SDR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2144" y="5061657"/>
            <a:ext cx="1997265" cy="17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Ranking de Execução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7443" y="5461216"/>
            <a:ext cx="5244991" cy="2518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Análise de </a:t>
            </a:r>
            <a:r>
              <a:rPr lang="en-US" sz="123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quem executa melhor o processo</a:t>
            </a: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não apenas quem vende mais.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3494" y="5888891"/>
            <a:ext cx="121573" cy="138940"/>
          </a:xfrm>
          <a:custGeom>
            <a:avLst/>
            <a:gdLst/>
            <a:ahLst/>
            <a:cxnLst/>
            <a:rect l="l" t="t" r="r" b="b"/>
            <a:pathLst>
              <a:path w="121573" h="138940">
                <a:moveTo>
                  <a:pt x="60868" y="34735"/>
                </a:moveTo>
                <a:lnTo>
                  <a:pt x="37910" y="-3501"/>
                </a:lnTo>
                <a:cubicBezTo>
                  <a:pt x="36146" y="-6431"/>
                  <a:pt x="32456" y="-7490"/>
                  <a:pt x="29416" y="-5970"/>
                </a:cubicBezTo>
                <a:lnTo>
                  <a:pt x="5916" y="5780"/>
                </a:lnTo>
                <a:cubicBezTo>
                  <a:pt x="2687" y="7381"/>
                  <a:pt x="1384" y="11289"/>
                  <a:pt x="2985" y="14518"/>
                </a:cubicBezTo>
                <a:lnTo>
                  <a:pt x="21872" y="52265"/>
                </a:lnTo>
                <a:cubicBezTo>
                  <a:pt x="13704" y="61465"/>
                  <a:pt x="8765" y="73568"/>
                  <a:pt x="8765" y="86838"/>
                </a:cubicBezTo>
                <a:cubicBezTo>
                  <a:pt x="8765" y="115603"/>
                  <a:pt x="32103" y="138940"/>
                  <a:pt x="60868" y="138940"/>
                </a:cubicBezTo>
                <a:cubicBezTo>
                  <a:pt x="89633" y="138940"/>
                  <a:pt x="112970" y="115603"/>
                  <a:pt x="112970" y="86838"/>
                </a:cubicBezTo>
                <a:cubicBezTo>
                  <a:pt x="112970" y="73568"/>
                  <a:pt x="108004" y="61465"/>
                  <a:pt x="99863" y="52265"/>
                </a:cubicBezTo>
                <a:lnTo>
                  <a:pt x="118750" y="14518"/>
                </a:lnTo>
                <a:cubicBezTo>
                  <a:pt x="120351" y="11289"/>
                  <a:pt x="119049" y="7381"/>
                  <a:pt x="115847" y="5780"/>
                </a:cubicBezTo>
                <a:lnTo>
                  <a:pt x="92319" y="-5997"/>
                </a:lnTo>
                <a:cubicBezTo>
                  <a:pt x="89280" y="-7517"/>
                  <a:pt x="85562" y="-6431"/>
                  <a:pt x="83825" y="-3528"/>
                </a:cubicBezTo>
                <a:lnTo>
                  <a:pt x="60868" y="34735"/>
                </a:lnTo>
                <a:close/>
                <a:moveTo>
                  <a:pt x="69226" y="73405"/>
                </a:moveTo>
                <a:cubicBezTo>
                  <a:pt x="69606" y="74165"/>
                  <a:pt x="70311" y="74680"/>
                  <a:pt x="71125" y="74789"/>
                </a:cubicBezTo>
                <a:lnTo>
                  <a:pt x="84721" y="76770"/>
                </a:lnTo>
                <a:cubicBezTo>
                  <a:pt x="86810" y="77068"/>
                  <a:pt x="87625" y="79619"/>
                  <a:pt x="86132" y="81112"/>
                </a:cubicBezTo>
                <a:lnTo>
                  <a:pt x="76281" y="90718"/>
                </a:lnTo>
                <a:cubicBezTo>
                  <a:pt x="75684" y="91315"/>
                  <a:pt x="75413" y="92129"/>
                  <a:pt x="75549" y="92971"/>
                </a:cubicBezTo>
                <a:lnTo>
                  <a:pt x="77882" y="106512"/>
                </a:lnTo>
                <a:cubicBezTo>
                  <a:pt x="78235" y="108574"/>
                  <a:pt x="76064" y="110175"/>
                  <a:pt x="74192" y="109198"/>
                </a:cubicBezTo>
                <a:lnTo>
                  <a:pt x="62035" y="102794"/>
                </a:lnTo>
                <a:cubicBezTo>
                  <a:pt x="61302" y="102414"/>
                  <a:pt x="60406" y="102414"/>
                  <a:pt x="59674" y="102794"/>
                </a:cubicBezTo>
                <a:lnTo>
                  <a:pt x="47516" y="109198"/>
                </a:lnTo>
                <a:cubicBezTo>
                  <a:pt x="45644" y="110175"/>
                  <a:pt x="43473" y="108601"/>
                  <a:pt x="43826" y="106512"/>
                </a:cubicBezTo>
                <a:lnTo>
                  <a:pt x="46160" y="92971"/>
                </a:lnTo>
                <a:cubicBezTo>
                  <a:pt x="46295" y="92156"/>
                  <a:pt x="46024" y="91315"/>
                  <a:pt x="45427" y="90718"/>
                </a:cubicBezTo>
                <a:lnTo>
                  <a:pt x="35576" y="81112"/>
                </a:lnTo>
                <a:cubicBezTo>
                  <a:pt x="34057" y="79646"/>
                  <a:pt x="34898" y="77096"/>
                  <a:pt x="36987" y="76770"/>
                </a:cubicBezTo>
                <a:lnTo>
                  <a:pt x="50583" y="74789"/>
                </a:lnTo>
                <a:cubicBezTo>
                  <a:pt x="51397" y="74680"/>
                  <a:pt x="52130" y="74138"/>
                  <a:pt x="52482" y="73405"/>
                </a:cubicBezTo>
                <a:lnTo>
                  <a:pt x="58561" y="61085"/>
                </a:lnTo>
                <a:cubicBezTo>
                  <a:pt x="59484" y="59185"/>
                  <a:pt x="62170" y="59185"/>
                  <a:pt x="63120" y="61085"/>
                </a:cubicBezTo>
                <a:lnTo>
                  <a:pt x="69199" y="73405"/>
                </a:lnTo>
                <a:close/>
              </a:path>
            </a:pathLst>
          </a:custGeom>
          <a:solidFill>
            <a:srgbClr val="FFB900"/>
          </a:solidFill>
        </p:spPr>
      </p:sp>
      <p:sp>
        <p:nvSpPr>
          <p:cNvPr id="37" name="Text 35"/>
          <p:cNvSpPr/>
          <p:nvPr/>
        </p:nvSpPr>
        <p:spPr>
          <a:xfrm>
            <a:off x="840588" y="5854156"/>
            <a:ext cx="1450188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Execução do processo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373272" y="5888891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8684" y="8684"/>
                </a:moveTo>
                <a:cubicBezTo>
                  <a:pt x="13487" y="8684"/>
                  <a:pt x="17368" y="12564"/>
                  <a:pt x="17368" y="17368"/>
                </a:cubicBezTo>
                <a:lnTo>
                  <a:pt x="17368" y="108547"/>
                </a:lnTo>
                <a:cubicBezTo>
                  <a:pt x="17368" y="110935"/>
                  <a:pt x="19321" y="112889"/>
                  <a:pt x="21709" y="112889"/>
                </a:cubicBezTo>
                <a:lnTo>
                  <a:pt x="130256" y="112889"/>
                </a:lnTo>
                <a:cubicBezTo>
                  <a:pt x="135060" y="112889"/>
                  <a:pt x="138940" y="116769"/>
                  <a:pt x="138940" y="121573"/>
                </a:cubicBezTo>
                <a:cubicBezTo>
                  <a:pt x="138940" y="126376"/>
                  <a:pt x="135060" y="130256"/>
                  <a:pt x="130256" y="130256"/>
                </a:cubicBezTo>
                <a:lnTo>
                  <a:pt x="21709" y="130256"/>
                </a:lnTo>
                <a:cubicBezTo>
                  <a:pt x="9715" y="130256"/>
                  <a:pt x="0" y="120541"/>
                  <a:pt x="0" y="108547"/>
                </a:cubicBezTo>
                <a:lnTo>
                  <a:pt x="0" y="17368"/>
                </a:lnTo>
                <a:cubicBezTo>
                  <a:pt x="0" y="12564"/>
                  <a:pt x="3881" y="8684"/>
                  <a:pt x="8684" y="8684"/>
                </a:cubicBezTo>
                <a:close/>
                <a:moveTo>
                  <a:pt x="34735" y="26051"/>
                </a:moveTo>
                <a:cubicBezTo>
                  <a:pt x="34735" y="21248"/>
                  <a:pt x="38616" y="17368"/>
                  <a:pt x="43419" y="17368"/>
                </a:cubicBezTo>
                <a:lnTo>
                  <a:pt x="95521" y="17368"/>
                </a:lnTo>
                <a:cubicBezTo>
                  <a:pt x="100325" y="17368"/>
                  <a:pt x="104205" y="21248"/>
                  <a:pt x="104205" y="26051"/>
                </a:cubicBezTo>
                <a:cubicBezTo>
                  <a:pt x="104205" y="30854"/>
                  <a:pt x="100325" y="34735"/>
                  <a:pt x="95521" y="34735"/>
                </a:cubicBezTo>
                <a:lnTo>
                  <a:pt x="43419" y="34735"/>
                </a:lnTo>
                <a:cubicBezTo>
                  <a:pt x="38616" y="34735"/>
                  <a:pt x="34735" y="30854"/>
                  <a:pt x="34735" y="26051"/>
                </a:cubicBezTo>
                <a:close/>
                <a:moveTo>
                  <a:pt x="43419" y="47761"/>
                </a:moveTo>
                <a:lnTo>
                  <a:pt x="78154" y="47761"/>
                </a:lnTo>
                <a:cubicBezTo>
                  <a:pt x="82957" y="47761"/>
                  <a:pt x="86838" y="51641"/>
                  <a:pt x="86838" y="56444"/>
                </a:cubicBezTo>
                <a:cubicBezTo>
                  <a:pt x="86838" y="61248"/>
                  <a:pt x="82957" y="65128"/>
                  <a:pt x="78154" y="65128"/>
                </a:cubicBezTo>
                <a:lnTo>
                  <a:pt x="43419" y="65128"/>
                </a:lnTo>
                <a:cubicBezTo>
                  <a:pt x="38616" y="65128"/>
                  <a:pt x="34735" y="61248"/>
                  <a:pt x="34735" y="56444"/>
                </a:cubicBezTo>
                <a:cubicBezTo>
                  <a:pt x="34735" y="51641"/>
                  <a:pt x="38616" y="47761"/>
                  <a:pt x="43419" y="47761"/>
                </a:cubicBezTo>
                <a:close/>
                <a:moveTo>
                  <a:pt x="43419" y="78154"/>
                </a:moveTo>
                <a:lnTo>
                  <a:pt x="112889" y="78154"/>
                </a:lnTo>
                <a:cubicBezTo>
                  <a:pt x="117692" y="78154"/>
                  <a:pt x="121573" y="82034"/>
                  <a:pt x="121573" y="86838"/>
                </a:cubicBezTo>
                <a:cubicBezTo>
                  <a:pt x="121573" y="91641"/>
                  <a:pt x="117692" y="95521"/>
                  <a:pt x="112889" y="95521"/>
                </a:cubicBezTo>
                <a:lnTo>
                  <a:pt x="43419" y="95521"/>
                </a:lnTo>
                <a:cubicBezTo>
                  <a:pt x="38616" y="95521"/>
                  <a:pt x="34735" y="91641"/>
                  <a:pt x="34735" y="86838"/>
                </a:cubicBezTo>
                <a:cubicBezTo>
                  <a:pt x="34735" y="82034"/>
                  <a:pt x="38616" y="78154"/>
                  <a:pt x="43419" y="78154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9" name="Text 37"/>
          <p:cNvSpPr/>
          <p:nvPr/>
        </p:nvSpPr>
        <p:spPr>
          <a:xfrm>
            <a:off x="2599050" y="5854156"/>
            <a:ext cx="1345983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Qualidade dos dados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8157" y="4485163"/>
            <a:ext cx="5660075" cy="2117101"/>
          </a:xfrm>
          <a:prstGeom prst="roundRect">
            <a:avLst>
              <a:gd name="adj" fmla="val 6563"/>
            </a:avLst>
          </a:prstGeom>
          <a:gradFill flip="none" rotWithShape="1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38249" y="4735254"/>
            <a:ext cx="545340" cy="545340"/>
          </a:xfrm>
          <a:prstGeom prst="roundRect">
            <a:avLst>
              <a:gd name="adj" fmla="val 25478"/>
            </a:avLst>
          </a:prstGeom>
          <a:solidFill>
            <a:srgbClr val="6366F1">
              <a:alpha val="30196"/>
            </a:srgbClr>
          </a:soli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68288" y="4879404"/>
            <a:ext cx="293077" cy="260513"/>
          </a:xfrm>
          <a:custGeom>
            <a:avLst/>
            <a:gdLst/>
            <a:ahLst/>
            <a:cxnLst/>
            <a:rect l="l" t="t" r="r" b="b"/>
            <a:pathLst>
              <a:path w="293077" h="260513">
                <a:moveTo>
                  <a:pt x="195385" y="73269"/>
                </a:moveTo>
                <a:cubicBezTo>
                  <a:pt x="195385" y="122726"/>
                  <a:pt x="151627" y="162821"/>
                  <a:pt x="97692" y="162821"/>
                </a:cubicBezTo>
                <a:cubicBezTo>
                  <a:pt x="84107" y="162821"/>
                  <a:pt x="71183" y="160276"/>
                  <a:pt x="59429" y="155697"/>
                </a:cubicBezTo>
                <a:lnTo>
                  <a:pt x="17910" y="177678"/>
                </a:lnTo>
                <a:cubicBezTo>
                  <a:pt x="13178" y="180171"/>
                  <a:pt x="7378" y="179306"/>
                  <a:pt x="3562" y="175541"/>
                </a:cubicBezTo>
                <a:cubicBezTo>
                  <a:pt x="-254" y="171776"/>
                  <a:pt x="-1119" y="165924"/>
                  <a:pt x="1425" y="161192"/>
                </a:cubicBezTo>
                <a:lnTo>
                  <a:pt x="19538" y="127000"/>
                </a:lnTo>
                <a:cubicBezTo>
                  <a:pt x="7276" y="112041"/>
                  <a:pt x="0" y="93418"/>
                  <a:pt x="0" y="73269"/>
                </a:cubicBezTo>
                <a:cubicBezTo>
                  <a:pt x="0" y="23812"/>
                  <a:pt x="43758" y="-16282"/>
                  <a:pt x="97692" y="-16282"/>
                </a:cubicBezTo>
                <a:cubicBezTo>
                  <a:pt x="151627" y="-16282"/>
                  <a:pt x="195385" y="23812"/>
                  <a:pt x="195385" y="73269"/>
                </a:cubicBezTo>
                <a:close/>
                <a:moveTo>
                  <a:pt x="195385" y="260513"/>
                </a:moveTo>
                <a:cubicBezTo>
                  <a:pt x="147505" y="260513"/>
                  <a:pt x="107665" y="228915"/>
                  <a:pt x="99321" y="187244"/>
                </a:cubicBezTo>
                <a:cubicBezTo>
                  <a:pt x="160378" y="186480"/>
                  <a:pt x="213448" y="143028"/>
                  <a:pt x="219299" y="84107"/>
                </a:cubicBezTo>
                <a:cubicBezTo>
                  <a:pt x="261683" y="93876"/>
                  <a:pt x="293077" y="129035"/>
                  <a:pt x="293077" y="170962"/>
                </a:cubicBezTo>
                <a:cubicBezTo>
                  <a:pt x="293077" y="191111"/>
                  <a:pt x="285801" y="209733"/>
                  <a:pt x="273538" y="224692"/>
                </a:cubicBezTo>
                <a:lnTo>
                  <a:pt x="291652" y="258885"/>
                </a:lnTo>
                <a:cubicBezTo>
                  <a:pt x="294145" y="263617"/>
                  <a:pt x="293280" y="269417"/>
                  <a:pt x="289515" y="273233"/>
                </a:cubicBezTo>
                <a:cubicBezTo>
                  <a:pt x="285750" y="277049"/>
                  <a:pt x="279899" y="277914"/>
                  <a:pt x="275167" y="275370"/>
                </a:cubicBezTo>
                <a:lnTo>
                  <a:pt x="233647" y="253389"/>
                </a:lnTo>
                <a:cubicBezTo>
                  <a:pt x="221894" y="257969"/>
                  <a:pt x="208970" y="260513"/>
                  <a:pt x="195385" y="260513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3" name="Text 41"/>
          <p:cNvSpPr/>
          <p:nvPr/>
        </p:nvSpPr>
        <p:spPr>
          <a:xfrm>
            <a:off x="7129476" y="4783883"/>
            <a:ext cx="1250462" cy="277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Mentor Chat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29476" y="5061657"/>
            <a:ext cx="1207043" cy="17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Consulta Inteligente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4775" y="5461216"/>
            <a:ext cx="5244991" cy="2518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Consulta rápida aos dados em </a:t>
            </a:r>
            <a:r>
              <a:rPr lang="en-US" sz="1230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linguagem natural</a:t>
            </a:r>
            <a:r>
              <a:rPr lang="en-US" sz="123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Pergunte qualquer coisa.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38249" y="5857630"/>
            <a:ext cx="5156417" cy="493238"/>
          </a:xfrm>
          <a:prstGeom prst="roundRect">
            <a:avLst>
              <a:gd name="adj" fmla="val 21127"/>
            </a:avLst>
          </a:pr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98030" y="6034781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130256"/>
                </a:moveTo>
                <a:cubicBezTo>
                  <a:pt x="107841" y="130256"/>
                  <a:pt x="138940" y="101084"/>
                  <a:pt x="138940" y="65128"/>
                </a:cubicBezTo>
                <a:cubicBezTo>
                  <a:pt x="138940" y="29172"/>
                  <a:pt x="107841" y="0"/>
                  <a:pt x="69470" y="0"/>
                </a:cubicBezTo>
                <a:cubicBezTo>
                  <a:pt x="31099" y="0"/>
                  <a:pt x="0" y="29172"/>
                  <a:pt x="0" y="65128"/>
                </a:cubicBezTo>
                <a:cubicBezTo>
                  <a:pt x="0" y="79863"/>
                  <a:pt x="5210" y="93432"/>
                  <a:pt x="14003" y="104341"/>
                </a:cubicBezTo>
                <a:lnTo>
                  <a:pt x="760" y="129388"/>
                </a:lnTo>
                <a:cubicBezTo>
                  <a:pt x="-543" y="131830"/>
                  <a:pt x="-136" y="134815"/>
                  <a:pt x="1737" y="136851"/>
                </a:cubicBezTo>
                <a:cubicBezTo>
                  <a:pt x="3609" y="138886"/>
                  <a:pt x="6567" y="139510"/>
                  <a:pt x="9091" y="138425"/>
                </a:cubicBezTo>
                <a:lnTo>
                  <a:pt x="41221" y="124666"/>
                </a:lnTo>
                <a:cubicBezTo>
                  <a:pt x="49850" y="128248"/>
                  <a:pt x="59402" y="130256"/>
                  <a:pt x="69470" y="130256"/>
                </a:cubicBezTo>
                <a:close/>
                <a:moveTo>
                  <a:pt x="34735" y="56444"/>
                </a:moveTo>
                <a:cubicBezTo>
                  <a:pt x="39528" y="56444"/>
                  <a:pt x="43419" y="60336"/>
                  <a:pt x="43419" y="65128"/>
                </a:cubicBezTo>
                <a:cubicBezTo>
                  <a:pt x="43419" y="69921"/>
                  <a:pt x="39528" y="73812"/>
                  <a:pt x="34735" y="73812"/>
                </a:cubicBezTo>
                <a:cubicBezTo>
                  <a:pt x="29942" y="73812"/>
                  <a:pt x="26051" y="69921"/>
                  <a:pt x="26051" y="65128"/>
                </a:cubicBezTo>
                <a:cubicBezTo>
                  <a:pt x="26051" y="60336"/>
                  <a:pt x="29942" y="56444"/>
                  <a:pt x="34735" y="56444"/>
                </a:cubicBezTo>
                <a:close/>
                <a:moveTo>
                  <a:pt x="69470" y="56444"/>
                </a:moveTo>
                <a:cubicBezTo>
                  <a:pt x="74263" y="56444"/>
                  <a:pt x="78154" y="60336"/>
                  <a:pt x="78154" y="65128"/>
                </a:cubicBezTo>
                <a:cubicBezTo>
                  <a:pt x="78154" y="69921"/>
                  <a:pt x="74263" y="73812"/>
                  <a:pt x="69470" y="73812"/>
                </a:cubicBezTo>
                <a:cubicBezTo>
                  <a:pt x="64677" y="73812"/>
                  <a:pt x="60786" y="69921"/>
                  <a:pt x="60786" y="65128"/>
                </a:cubicBezTo>
                <a:cubicBezTo>
                  <a:pt x="60786" y="60336"/>
                  <a:pt x="64677" y="56444"/>
                  <a:pt x="69470" y="56444"/>
                </a:cubicBezTo>
                <a:close/>
                <a:moveTo>
                  <a:pt x="95521" y="65128"/>
                </a:moveTo>
                <a:cubicBezTo>
                  <a:pt x="95521" y="60336"/>
                  <a:pt x="99412" y="56444"/>
                  <a:pt x="104205" y="56444"/>
                </a:cubicBezTo>
                <a:cubicBezTo>
                  <a:pt x="108998" y="56444"/>
                  <a:pt x="112889" y="60336"/>
                  <a:pt x="112889" y="65128"/>
                </a:cubicBezTo>
                <a:cubicBezTo>
                  <a:pt x="112889" y="69921"/>
                  <a:pt x="108998" y="73812"/>
                  <a:pt x="104205" y="73812"/>
                </a:cubicBezTo>
                <a:cubicBezTo>
                  <a:pt x="99412" y="73812"/>
                  <a:pt x="95521" y="69921"/>
                  <a:pt x="95521" y="65128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48" name="Text 46"/>
          <p:cNvSpPr/>
          <p:nvPr/>
        </p:nvSpPr>
        <p:spPr>
          <a:xfrm>
            <a:off x="6858543" y="6000046"/>
            <a:ext cx="3291145" cy="20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"Quais negócios estão travados por falta de decisor?"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rivacera.com/2763372578dcf9063a658feb7778b1c4e58dd7e5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3319" r="3319"/>
          <a:stretch>
            <a:fillRect/>
          </a:stretch>
        </p:blipFill>
        <p:spPr>
          <a:xfrm>
            <a:off x="0" y="0"/>
            <a:ext cx="12192000" cy="685591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912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34027" y="434236"/>
            <a:ext cx="66805" cy="400833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5" name="Text 2"/>
          <p:cNvSpPr/>
          <p:nvPr/>
        </p:nvSpPr>
        <p:spPr>
          <a:xfrm>
            <a:off x="534444" y="334027"/>
            <a:ext cx="5302685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46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ENCERRAMENTO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4670" y="611505"/>
            <a:ext cx="5444490" cy="419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5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Conclusão e Próximos Passos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7368" y="1205839"/>
            <a:ext cx="5651744" cy="2161157"/>
          </a:xfrm>
          <a:prstGeom prst="roundRect">
            <a:avLst>
              <a:gd name="adj" fmla="val 6182"/>
            </a:avLst>
          </a:pr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1270" y="1694774"/>
            <a:ext cx="524423" cy="524423"/>
          </a:xfrm>
          <a:prstGeom prst="roundRect">
            <a:avLst>
              <a:gd name="adj" fmla="val 25478"/>
            </a:avLst>
          </a:prstGeom>
          <a:solidFill>
            <a:srgbClr val="00BC7D">
              <a:alpha val="20000"/>
            </a:srgbClr>
          </a:solidFill>
          <a:ln w="10160">
            <a:solidFill>
              <a:srgbClr val="00BC7D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3294" y="1833395"/>
            <a:ext cx="187890" cy="250521"/>
          </a:xfrm>
          <a:custGeom>
            <a:avLst/>
            <a:gdLst/>
            <a:ahLst/>
            <a:cxnLst/>
            <a:rect l="l" t="t" r="r" b="b"/>
            <a:pathLst>
              <a:path w="187890" h="250521">
                <a:moveTo>
                  <a:pt x="122276" y="32685"/>
                </a:moveTo>
                <a:cubicBezTo>
                  <a:pt x="127364" y="25688"/>
                  <a:pt x="125799" y="15902"/>
                  <a:pt x="118802" y="10813"/>
                </a:cubicBezTo>
                <a:cubicBezTo>
                  <a:pt x="111805" y="5725"/>
                  <a:pt x="102019" y="7291"/>
                  <a:pt x="96930" y="14287"/>
                </a:cubicBezTo>
                <a:lnTo>
                  <a:pt x="45064" y="85578"/>
                </a:lnTo>
                <a:lnTo>
                  <a:pt x="26716" y="67230"/>
                </a:lnTo>
                <a:cubicBezTo>
                  <a:pt x="20599" y="61113"/>
                  <a:pt x="10667" y="61113"/>
                  <a:pt x="4550" y="67230"/>
                </a:cubicBezTo>
                <a:cubicBezTo>
                  <a:pt x="-1566" y="73346"/>
                  <a:pt x="-1566" y="83279"/>
                  <a:pt x="4550" y="89395"/>
                </a:cubicBezTo>
                <a:lnTo>
                  <a:pt x="35866" y="120710"/>
                </a:lnTo>
                <a:cubicBezTo>
                  <a:pt x="39095" y="123939"/>
                  <a:pt x="43596" y="125603"/>
                  <a:pt x="48147" y="125260"/>
                </a:cubicBezTo>
                <a:cubicBezTo>
                  <a:pt x="52697" y="124918"/>
                  <a:pt x="56905" y="122569"/>
                  <a:pt x="59596" y="118850"/>
                </a:cubicBezTo>
                <a:lnTo>
                  <a:pt x="122227" y="32734"/>
                </a:lnTo>
                <a:close/>
                <a:moveTo>
                  <a:pt x="184906" y="99230"/>
                </a:moveTo>
                <a:cubicBezTo>
                  <a:pt x="189994" y="92233"/>
                  <a:pt x="188429" y="82447"/>
                  <a:pt x="181432" y="77358"/>
                </a:cubicBezTo>
                <a:cubicBezTo>
                  <a:pt x="174435" y="72269"/>
                  <a:pt x="164649" y="73835"/>
                  <a:pt x="159560" y="80832"/>
                </a:cubicBezTo>
                <a:lnTo>
                  <a:pt x="76379" y="195181"/>
                </a:lnTo>
                <a:lnTo>
                  <a:pt x="42373" y="161175"/>
                </a:lnTo>
                <a:cubicBezTo>
                  <a:pt x="36257" y="155059"/>
                  <a:pt x="26324" y="155059"/>
                  <a:pt x="20208" y="161175"/>
                </a:cubicBezTo>
                <a:cubicBezTo>
                  <a:pt x="14092" y="167291"/>
                  <a:pt x="14092" y="177224"/>
                  <a:pt x="20208" y="183340"/>
                </a:cubicBezTo>
                <a:lnTo>
                  <a:pt x="67181" y="230313"/>
                </a:lnTo>
                <a:cubicBezTo>
                  <a:pt x="70410" y="233542"/>
                  <a:pt x="74912" y="235206"/>
                  <a:pt x="79462" y="234863"/>
                </a:cubicBezTo>
                <a:cubicBezTo>
                  <a:pt x="84012" y="234521"/>
                  <a:pt x="88220" y="232172"/>
                  <a:pt x="90912" y="228453"/>
                </a:cubicBezTo>
                <a:lnTo>
                  <a:pt x="184857" y="99279"/>
                </a:lnTo>
                <a:close/>
              </a:path>
            </a:pathLst>
          </a:custGeom>
          <a:solidFill>
            <a:srgbClr val="00D492"/>
          </a:solidFill>
        </p:spPr>
      </p:sp>
      <p:sp>
        <p:nvSpPr>
          <p:cNvPr id="10" name="Text 7"/>
          <p:cNvSpPr/>
          <p:nvPr/>
        </p:nvSpPr>
        <p:spPr>
          <a:xfrm>
            <a:off x="1275985" y="1825045"/>
            <a:ext cx="1394564" cy="2672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Fluxo Validado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7930" y="2392891"/>
            <a:ext cx="5185775" cy="492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Sistema estável e operacional, com todas as regras de auditoria validadas e funcionando em produção.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7368" y="3540691"/>
            <a:ext cx="5651744" cy="2161157"/>
          </a:xfrm>
          <a:prstGeom prst="roundRect">
            <a:avLst>
              <a:gd name="adj" fmla="val 6182"/>
            </a:avLst>
          </a:pr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1270" y="4029622"/>
            <a:ext cx="524423" cy="524423"/>
          </a:xfrm>
          <a:prstGeom prst="roundRect">
            <a:avLst>
              <a:gd name="adj" fmla="val 25478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6322" y="4168244"/>
            <a:ext cx="281836" cy="250521"/>
          </a:xfrm>
          <a:custGeom>
            <a:avLst/>
            <a:gdLst/>
            <a:ahLst/>
            <a:cxnLst/>
            <a:rect l="l" t="t" r="r" b="b"/>
            <a:pathLst>
              <a:path w="281836" h="250521">
                <a:moveTo>
                  <a:pt x="140918" y="15658"/>
                </a:moveTo>
                <a:cubicBezTo>
                  <a:pt x="101383" y="15658"/>
                  <a:pt x="69725" y="33664"/>
                  <a:pt x="46679" y="55095"/>
                </a:cubicBezTo>
                <a:cubicBezTo>
                  <a:pt x="23780" y="76379"/>
                  <a:pt x="8465" y="101774"/>
                  <a:pt x="1174" y="119242"/>
                </a:cubicBezTo>
                <a:cubicBezTo>
                  <a:pt x="-440" y="123107"/>
                  <a:pt x="-440" y="127413"/>
                  <a:pt x="1174" y="131279"/>
                </a:cubicBezTo>
                <a:cubicBezTo>
                  <a:pt x="8465" y="148747"/>
                  <a:pt x="23780" y="174190"/>
                  <a:pt x="46679" y="195426"/>
                </a:cubicBezTo>
                <a:cubicBezTo>
                  <a:pt x="69725" y="216808"/>
                  <a:pt x="101383" y="234863"/>
                  <a:pt x="140918" y="234863"/>
                </a:cubicBezTo>
                <a:cubicBezTo>
                  <a:pt x="180453" y="234863"/>
                  <a:pt x="212111" y="216857"/>
                  <a:pt x="235157" y="195426"/>
                </a:cubicBezTo>
                <a:cubicBezTo>
                  <a:pt x="258056" y="174141"/>
                  <a:pt x="273371" y="148747"/>
                  <a:pt x="280661" y="131279"/>
                </a:cubicBezTo>
                <a:cubicBezTo>
                  <a:pt x="282276" y="127413"/>
                  <a:pt x="282276" y="123107"/>
                  <a:pt x="280661" y="119242"/>
                </a:cubicBezTo>
                <a:cubicBezTo>
                  <a:pt x="273371" y="101774"/>
                  <a:pt x="258056" y="76330"/>
                  <a:pt x="235157" y="55095"/>
                </a:cubicBezTo>
                <a:cubicBezTo>
                  <a:pt x="212111" y="33713"/>
                  <a:pt x="180453" y="15658"/>
                  <a:pt x="140918" y="15658"/>
                </a:cubicBezTo>
                <a:close/>
                <a:moveTo>
                  <a:pt x="70459" y="125260"/>
                </a:moveTo>
                <a:cubicBezTo>
                  <a:pt x="70459" y="86373"/>
                  <a:pt x="102030" y="54801"/>
                  <a:pt x="140918" y="54801"/>
                </a:cubicBezTo>
                <a:cubicBezTo>
                  <a:pt x="179805" y="54801"/>
                  <a:pt x="211377" y="86373"/>
                  <a:pt x="211377" y="125260"/>
                </a:cubicBezTo>
                <a:cubicBezTo>
                  <a:pt x="211377" y="164148"/>
                  <a:pt x="179805" y="195719"/>
                  <a:pt x="140918" y="195719"/>
                </a:cubicBezTo>
                <a:cubicBezTo>
                  <a:pt x="102030" y="195719"/>
                  <a:pt x="70459" y="164148"/>
                  <a:pt x="70459" y="125260"/>
                </a:cubicBezTo>
                <a:close/>
                <a:moveTo>
                  <a:pt x="140918" y="93945"/>
                </a:moveTo>
                <a:cubicBezTo>
                  <a:pt x="140918" y="111217"/>
                  <a:pt x="126875" y="125260"/>
                  <a:pt x="109603" y="125260"/>
                </a:cubicBezTo>
                <a:cubicBezTo>
                  <a:pt x="103976" y="125260"/>
                  <a:pt x="98691" y="123792"/>
                  <a:pt x="94092" y="121150"/>
                </a:cubicBezTo>
                <a:cubicBezTo>
                  <a:pt x="93603" y="126484"/>
                  <a:pt x="94043" y="131964"/>
                  <a:pt x="95511" y="137395"/>
                </a:cubicBezTo>
                <a:cubicBezTo>
                  <a:pt x="102214" y="162447"/>
                  <a:pt x="128000" y="177322"/>
                  <a:pt x="153052" y="170618"/>
                </a:cubicBezTo>
                <a:cubicBezTo>
                  <a:pt x="178104" y="163915"/>
                  <a:pt x="192979" y="138129"/>
                  <a:pt x="186276" y="113077"/>
                </a:cubicBezTo>
                <a:cubicBezTo>
                  <a:pt x="180306" y="90716"/>
                  <a:pt x="159120" y="76477"/>
                  <a:pt x="136808" y="78434"/>
                </a:cubicBezTo>
                <a:cubicBezTo>
                  <a:pt x="139401" y="82985"/>
                  <a:pt x="140918" y="88269"/>
                  <a:pt x="140918" y="93945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15" name="Text 12"/>
          <p:cNvSpPr/>
          <p:nvPr/>
        </p:nvSpPr>
        <p:spPr>
          <a:xfrm>
            <a:off x="1275985" y="4159893"/>
            <a:ext cx="1620033" cy="2672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Visibilidade Total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7930" y="4727739"/>
            <a:ext cx="5185775" cy="492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Equipe com acesso completo e em tempo real à saúde de todo o funil de vendas.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7670" y="1205839"/>
            <a:ext cx="5651744" cy="2637146"/>
          </a:xfrm>
          <a:prstGeom prst="roundRect">
            <a:avLst>
              <a:gd name="adj" fmla="val 5066"/>
            </a:avLst>
          </a:prstGeom>
          <a:gradFill flip="none" rotWithShape="1">
            <a:gsLst>
              <a:gs pos="0">
                <a:srgbClr val="6366F1">
                  <a:alpha val="30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1572" y="1479744"/>
            <a:ext cx="524423" cy="524423"/>
          </a:xfrm>
          <a:prstGeom prst="roundRect">
            <a:avLst>
              <a:gd name="adj" fmla="val 25478"/>
            </a:avLst>
          </a:prstGeom>
          <a:solidFill>
            <a:srgbClr val="6366F1">
              <a:alpha val="40000"/>
            </a:srgbClr>
          </a:solidFill>
          <a:ln w="1016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12281" y="1618365"/>
            <a:ext cx="250521" cy="250521"/>
          </a:xfrm>
          <a:custGeom>
            <a:avLst/>
            <a:gdLst/>
            <a:ahLst/>
            <a:cxnLst/>
            <a:rect l="l" t="t" r="r" b="b"/>
            <a:pathLst>
              <a:path w="250521" h="250521">
                <a:moveTo>
                  <a:pt x="62630" y="156575"/>
                </a:moveTo>
                <a:lnTo>
                  <a:pt x="11988" y="156575"/>
                </a:lnTo>
                <a:cubicBezTo>
                  <a:pt x="-196" y="156575"/>
                  <a:pt x="-7682" y="143315"/>
                  <a:pt x="-1419" y="132844"/>
                </a:cubicBezTo>
                <a:lnTo>
                  <a:pt x="24465" y="89688"/>
                </a:lnTo>
                <a:cubicBezTo>
                  <a:pt x="28722" y="82593"/>
                  <a:pt x="36355" y="78288"/>
                  <a:pt x="44624" y="78288"/>
                </a:cubicBezTo>
                <a:lnTo>
                  <a:pt x="91107" y="78288"/>
                </a:lnTo>
                <a:cubicBezTo>
                  <a:pt x="128343" y="15217"/>
                  <a:pt x="183878" y="12037"/>
                  <a:pt x="221016" y="17468"/>
                </a:cubicBezTo>
                <a:cubicBezTo>
                  <a:pt x="227279" y="18398"/>
                  <a:pt x="232172" y="23291"/>
                  <a:pt x="233053" y="29505"/>
                </a:cubicBezTo>
                <a:cubicBezTo>
                  <a:pt x="238484" y="66642"/>
                  <a:pt x="235303" y="122178"/>
                  <a:pt x="172233" y="159413"/>
                </a:cubicBezTo>
                <a:lnTo>
                  <a:pt x="172233" y="205897"/>
                </a:lnTo>
                <a:cubicBezTo>
                  <a:pt x="172233" y="214166"/>
                  <a:pt x="167927" y="221799"/>
                  <a:pt x="160832" y="226056"/>
                </a:cubicBezTo>
                <a:lnTo>
                  <a:pt x="117676" y="251940"/>
                </a:lnTo>
                <a:cubicBezTo>
                  <a:pt x="107254" y="258203"/>
                  <a:pt x="93945" y="250667"/>
                  <a:pt x="93945" y="238533"/>
                </a:cubicBezTo>
                <a:lnTo>
                  <a:pt x="93945" y="187890"/>
                </a:lnTo>
                <a:cubicBezTo>
                  <a:pt x="93945" y="170618"/>
                  <a:pt x="79902" y="156575"/>
                  <a:pt x="62630" y="156575"/>
                </a:cubicBezTo>
                <a:lnTo>
                  <a:pt x="62581" y="156575"/>
                </a:lnTo>
                <a:close/>
                <a:moveTo>
                  <a:pt x="195719" y="78288"/>
                </a:moveTo>
                <a:cubicBezTo>
                  <a:pt x="195719" y="65325"/>
                  <a:pt x="185195" y="54801"/>
                  <a:pt x="172233" y="54801"/>
                </a:cubicBezTo>
                <a:cubicBezTo>
                  <a:pt x="159270" y="54801"/>
                  <a:pt x="148747" y="65325"/>
                  <a:pt x="148747" y="78288"/>
                </a:cubicBezTo>
                <a:cubicBezTo>
                  <a:pt x="148747" y="91250"/>
                  <a:pt x="159270" y="101774"/>
                  <a:pt x="172233" y="101774"/>
                </a:cubicBezTo>
                <a:cubicBezTo>
                  <a:pt x="185195" y="101774"/>
                  <a:pt x="195719" y="91250"/>
                  <a:pt x="195719" y="78288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20" name="Text 17"/>
          <p:cNvSpPr/>
          <p:nvPr/>
        </p:nvSpPr>
        <p:spPr>
          <a:xfrm>
            <a:off x="7136287" y="1610015"/>
            <a:ext cx="1787047" cy="2672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Foco na Conversão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68232" y="2177861"/>
            <a:ext cx="5185775" cy="492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Aumentar a conversão através da </a:t>
            </a:r>
            <a:r>
              <a:rPr lang="en-US" sz="118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disciplina operacional</a:t>
            </a:r>
            <a:r>
              <a:rPr lang="en-US" sz="118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e qualidade dos dados.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68232" y="2799987"/>
            <a:ext cx="2505205" cy="768263"/>
          </a:xfrm>
          <a:prstGeom prst="roundRect">
            <a:avLst>
              <a:gd name="adj" fmla="val 13043"/>
            </a:avLst>
          </a:prstGeom>
          <a:solidFill>
            <a:srgbClr val="191919"/>
          </a:solidFill>
        </p:spPr>
      </p:sp>
      <p:sp>
        <p:nvSpPr>
          <p:cNvPr id="23" name="Text 20"/>
          <p:cNvSpPr/>
          <p:nvPr/>
        </p:nvSpPr>
        <p:spPr>
          <a:xfrm>
            <a:off x="6539213" y="2933598"/>
            <a:ext cx="2363244" cy="300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100%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72615" y="3267625"/>
            <a:ext cx="2296438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Deals auditados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074376" y="2799987"/>
            <a:ext cx="2505205" cy="768263"/>
          </a:xfrm>
          <a:prstGeom prst="roundRect">
            <a:avLst>
              <a:gd name="adj" fmla="val 13043"/>
            </a:avLst>
          </a:prstGeom>
          <a:solidFill>
            <a:srgbClr val="191919"/>
          </a:solidFill>
        </p:spPr>
      </p:sp>
      <p:sp>
        <p:nvSpPr>
          <p:cNvPr id="26" name="Text 23"/>
          <p:cNvSpPr/>
          <p:nvPr/>
        </p:nvSpPr>
        <p:spPr>
          <a:xfrm>
            <a:off x="9145357" y="2933598"/>
            <a:ext cx="2363244" cy="300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00D49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24/7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78760" y="3267625"/>
            <a:ext cx="2296438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Monitoramento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97670" y="4012505"/>
            <a:ext cx="5651744" cy="1693519"/>
          </a:xfrm>
          <a:prstGeom prst="roundRect">
            <a:avLst>
              <a:gd name="adj" fmla="val 7890"/>
            </a:avLst>
          </a:pr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59881" y="4316468"/>
            <a:ext cx="175364" cy="200416"/>
          </a:xfrm>
          <a:custGeom>
            <a:avLst/>
            <a:gdLst/>
            <a:ahLst/>
            <a:cxnLst/>
            <a:rect l="l" t="t" r="r" b="b"/>
            <a:pathLst>
              <a:path w="175364" h="200416">
                <a:moveTo>
                  <a:pt x="0" y="84551"/>
                </a:moveTo>
                <a:cubicBezTo>
                  <a:pt x="0" y="58598"/>
                  <a:pt x="21020" y="37578"/>
                  <a:pt x="46973" y="37578"/>
                </a:cubicBezTo>
                <a:lnTo>
                  <a:pt x="50104" y="37578"/>
                </a:lnTo>
                <a:cubicBezTo>
                  <a:pt x="57033" y="37578"/>
                  <a:pt x="62630" y="43176"/>
                  <a:pt x="62630" y="50104"/>
                </a:cubicBezTo>
                <a:cubicBezTo>
                  <a:pt x="62630" y="57033"/>
                  <a:pt x="57033" y="62630"/>
                  <a:pt x="50104" y="62630"/>
                </a:cubicBezTo>
                <a:lnTo>
                  <a:pt x="46973" y="62630"/>
                </a:lnTo>
                <a:cubicBezTo>
                  <a:pt x="34877" y="62630"/>
                  <a:pt x="25052" y="72455"/>
                  <a:pt x="25052" y="84551"/>
                </a:cubicBezTo>
                <a:lnTo>
                  <a:pt x="25052" y="87682"/>
                </a:lnTo>
                <a:lnTo>
                  <a:pt x="50104" y="87682"/>
                </a:lnTo>
                <a:cubicBezTo>
                  <a:pt x="63922" y="87682"/>
                  <a:pt x="75156" y="98916"/>
                  <a:pt x="75156" y="112734"/>
                </a:cubicBezTo>
                <a:lnTo>
                  <a:pt x="75156" y="137786"/>
                </a:lnTo>
                <a:cubicBezTo>
                  <a:pt x="75156" y="151604"/>
                  <a:pt x="63922" y="162838"/>
                  <a:pt x="50104" y="162838"/>
                </a:cubicBezTo>
                <a:lnTo>
                  <a:pt x="25052" y="162838"/>
                </a:lnTo>
                <a:cubicBezTo>
                  <a:pt x="11234" y="162838"/>
                  <a:pt x="0" y="151604"/>
                  <a:pt x="0" y="137786"/>
                </a:cubicBezTo>
                <a:lnTo>
                  <a:pt x="0" y="84551"/>
                </a:lnTo>
                <a:close/>
                <a:moveTo>
                  <a:pt x="100208" y="84551"/>
                </a:moveTo>
                <a:cubicBezTo>
                  <a:pt x="100208" y="58598"/>
                  <a:pt x="121228" y="37578"/>
                  <a:pt x="147181" y="37578"/>
                </a:cubicBezTo>
                <a:lnTo>
                  <a:pt x="150312" y="37578"/>
                </a:lnTo>
                <a:cubicBezTo>
                  <a:pt x="157241" y="37578"/>
                  <a:pt x="162838" y="43176"/>
                  <a:pt x="162838" y="50104"/>
                </a:cubicBezTo>
                <a:cubicBezTo>
                  <a:pt x="162838" y="57033"/>
                  <a:pt x="157241" y="62630"/>
                  <a:pt x="150312" y="62630"/>
                </a:cubicBezTo>
                <a:lnTo>
                  <a:pt x="147181" y="62630"/>
                </a:lnTo>
                <a:cubicBezTo>
                  <a:pt x="135085" y="62630"/>
                  <a:pt x="125260" y="72455"/>
                  <a:pt x="125260" y="84551"/>
                </a:cubicBezTo>
                <a:lnTo>
                  <a:pt x="125260" y="87682"/>
                </a:lnTo>
                <a:lnTo>
                  <a:pt x="150312" y="87682"/>
                </a:lnTo>
                <a:cubicBezTo>
                  <a:pt x="164130" y="87682"/>
                  <a:pt x="175364" y="98916"/>
                  <a:pt x="175364" y="112734"/>
                </a:cubicBezTo>
                <a:lnTo>
                  <a:pt x="175364" y="137786"/>
                </a:lnTo>
                <a:cubicBezTo>
                  <a:pt x="175364" y="151604"/>
                  <a:pt x="164130" y="162838"/>
                  <a:pt x="150312" y="162838"/>
                </a:cubicBezTo>
                <a:lnTo>
                  <a:pt x="125260" y="162838"/>
                </a:lnTo>
                <a:cubicBezTo>
                  <a:pt x="111442" y="162838"/>
                  <a:pt x="100208" y="151604"/>
                  <a:pt x="100208" y="137786"/>
                </a:cubicBezTo>
                <a:lnTo>
                  <a:pt x="100208" y="84551"/>
                </a:lnTo>
                <a:close/>
              </a:path>
            </a:pathLst>
          </a:custGeom>
          <a:solidFill>
            <a:srgbClr val="6366F1"/>
          </a:solidFill>
        </p:spPr>
      </p:sp>
      <p:sp>
        <p:nvSpPr>
          <p:cNvPr id="30" name="Text 27"/>
          <p:cNvSpPr/>
          <p:nvPr/>
        </p:nvSpPr>
        <p:spPr>
          <a:xfrm>
            <a:off x="6757792" y="4283065"/>
            <a:ext cx="4910203" cy="8183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"Saímos do escuro. Temos agora um processo auditado e uma base de dados confiável para decisões de expansão e treinamento."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57792" y="5230868"/>
            <a:ext cx="4893501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— Resultado do Sistema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37185" y="5908675"/>
            <a:ext cx="11513820" cy="802640"/>
          </a:xfrm>
          <a:prstGeom prst="roundRect">
            <a:avLst>
              <a:gd name="adj" fmla="val 14184"/>
            </a:avLst>
          </a:prstGeom>
          <a:gradFill flip="none" rotWithShape="1">
            <a:gsLst>
              <a:gs pos="0">
                <a:srgbClr val="6366F1">
                  <a:alpha val="30000"/>
                </a:srgbClr>
              </a:gs>
              <a:gs pos="100000">
                <a:srgbClr val="6366F1">
                  <a:alpha val="10000"/>
                </a:srgbClr>
              </a:gs>
            </a:gsLst>
            <a:lin ang="0" scaled="1"/>
          </a:gradFill>
          <a:ln w="10160">
            <a:solidFill>
              <a:srgbClr val="6366F1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4465" y="6116042"/>
            <a:ext cx="524423" cy="524423"/>
          </a:xfrm>
          <a:prstGeom prst="roundRect">
            <a:avLst>
              <a:gd name="adj" fmla="val 25478"/>
            </a:avLst>
          </a:prstGeom>
          <a:solidFill>
            <a:srgbClr val="6366F1">
              <a:alpha val="40000"/>
            </a:srgbClr>
          </a:solidFill>
          <a:ln w="1016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174" y="6254663"/>
            <a:ext cx="250521" cy="250521"/>
          </a:xfrm>
          <a:custGeom>
            <a:avLst/>
            <a:gdLst/>
            <a:ahLst/>
            <a:cxnLst/>
            <a:rect l="l" t="t" r="r" b="b"/>
            <a:pathLst>
              <a:path w="250521" h="250521">
                <a:moveTo>
                  <a:pt x="0" y="125260"/>
                </a:moveTo>
                <a:cubicBezTo>
                  <a:pt x="0" y="56127"/>
                  <a:pt x="56127" y="0"/>
                  <a:pt x="125260" y="0"/>
                </a:cubicBezTo>
                <a:cubicBezTo>
                  <a:pt x="194393" y="0"/>
                  <a:pt x="250521" y="56127"/>
                  <a:pt x="250521" y="125260"/>
                </a:cubicBezTo>
                <a:cubicBezTo>
                  <a:pt x="250521" y="194393"/>
                  <a:pt x="194393" y="250521"/>
                  <a:pt x="125260" y="250521"/>
                </a:cubicBezTo>
                <a:cubicBezTo>
                  <a:pt x="56127" y="250521"/>
                  <a:pt x="0" y="194393"/>
                  <a:pt x="0" y="125260"/>
                </a:cubicBezTo>
                <a:close/>
                <a:moveTo>
                  <a:pt x="92135" y="71976"/>
                </a:moveTo>
                <a:cubicBezTo>
                  <a:pt x="88416" y="74031"/>
                  <a:pt x="86116" y="77994"/>
                  <a:pt x="86116" y="82202"/>
                </a:cubicBezTo>
                <a:lnTo>
                  <a:pt x="86116" y="168318"/>
                </a:lnTo>
                <a:cubicBezTo>
                  <a:pt x="86116" y="172575"/>
                  <a:pt x="88416" y="176490"/>
                  <a:pt x="92135" y="178545"/>
                </a:cubicBezTo>
                <a:cubicBezTo>
                  <a:pt x="95853" y="180600"/>
                  <a:pt x="100355" y="180551"/>
                  <a:pt x="104025" y="178300"/>
                </a:cubicBezTo>
                <a:lnTo>
                  <a:pt x="174484" y="135242"/>
                </a:lnTo>
                <a:cubicBezTo>
                  <a:pt x="177958" y="133089"/>
                  <a:pt x="180111" y="129321"/>
                  <a:pt x="180111" y="125211"/>
                </a:cubicBezTo>
                <a:cubicBezTo>
                  <a:pt x="180111" y="121101"/>
                  <a:pt x="177958" y="117334"/>
                  <a:pt x="174484" y="115181"/>
                </a:cubicBezTo>
                <a:lnTo>
                  <a:pt x="104025" y="72123"/>
                </a:lnTo>
                <a:cubicBezTo>
                  <a:pt x="100404" y="69921"/>
                  <a:pt x="95853" y="69823"/>
                  <a:pt x="92135" y="71878"/>
                </a:cubicBezTo>
                <a:close/>
              </a:path>
            </a:pathLst>
          </a:custGeom>
          <a:solidFill>
            <a:srgbClr val="6366F1"/>
          </a:solidFill>
        </p:spPr>
      </p:sp>
      <p:sp>
        <p:nvSpPr>
          <p:cNvPr id="35" name="Text 32"/>
          <p:cNvSpPr/>
          <p:nvPr/>
        </p:nvSpPr>
        <p:spPr>
          <a:xfrm>
            <a:off x="1242582" y="6112701"/>
            <a:ext cx="3089753" cy="2672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EFEFE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Próximo Passo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242582" y="6413224"/>
            <a:ext cx="3064701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Demonstração do sistema em funcionamento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781987" y="6129403"/>
            <a:ext cx="868471" cy="300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975" b="1" dirty="0">
                <a:solidFill>
                  <a:srgbClr val="6366F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Pronto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840442" y="6430027"/>
            <a:ext cx="810016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50" dirty="0">
                <a:solidFill>
                  <a:srgbClr val="8F8F8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para iniciar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4522</Words>
  <Application>WPS Presentation</Application>
  <PresentationFormat>On-screen Show (16:9)</PresentationFormat>
  <Paragraphs>283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Auditoria de Vendas: Inteligência e Governança de Dados</dc:title>
  <dc:creator>Kimi</dc:creator>
  <dc:subject>Agente de Auditoria de Vendas: Inteligência e Governança de Dados</dc:subject>
  <cp:lastModifiedBy>paulo.miranda_acesso</cp:lastModifiedBy>
  <cp:revision>3</cp:revision>
  <dcterms:created xsi:type="dcterms:W3CDTF">2026-04-20T18:04:00Z</dcterms:created>
  <dcterms:modified xsi:type="dcterms:W3CDTF">2026-04-22T18:31:45Z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{"Label":"Agente de Auditoria de Vendas: Inteligência e Governança de Dados","ContentProducer":"001191110108MACG2KBH8F10000","ProduceID":"19dac0bf-22c2-814f-8000-00009da6a67d","ReservedCode1":"","ContentPropagator":"001191110108MACG2KBH8F20000","PropagateID":"19dac0bf-22c2-814f-8000-00009da6a67d","ReservedCode2":""}</vt:lpwstr>
  </property>
  <property fmtid="{D5CDD505-2E9C-101B-9397-08002B2CF9AE}" pid="3" name="ICV">
    <vt:lpwstr>FFB297C5D52D4E02A08DD54FCDF34290_12</vt:lpwstr>
  </property>
  <property fmtid="{D5CDD505-2E9C-101B-9397-08002B2CF9AE}" pid="4" name="KSOProductBuildVer">
    <vt:lpwstr>1046-12.2.0.20795</vt:lpwstr>
  </property>
</Properties>
</file>